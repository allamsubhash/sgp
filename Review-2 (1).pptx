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20"/>
  </p:notesMasterIdLst>
  <p:sldIdLst>
    <p:sldId id="256" r:id="rId3"/>
    <p:sldId id="257" r:id="rId4"/>
    <p:sldId id="258" r:id="rId5"/>
    <p:sldId id="259" r:id="rId6"/>
    <p:sldId id="266" r:id="rId7"/>
    <p:sldId id="261" r:id="rId8"/>
    <p:sldId id="267" r:id="rId9"/>
    <p:sldId id="268" r:id="rId10"/>
    <p:sldId id="269" r:id="rId11"/>
    <p:sldId id="270" r:id="rId12"/>
    <p:sldId id="271" r:id="rId13"/>
    <p:sldId id="260" r:id="rId14"/>
    <p:sldId id="272" r:id="rId15"/>
    <p:sldId id="262" r:id="rId16"/>
    <p:sldId id="273" r:id="rId17"/>
    <p:sldId id="263" r:id="rId18"/>
    <p:sldId id="265" r:id="rId19"/>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68"/>
  </p:normalViewPr>
  <p:slideViewPr>
    <p:cSldViewPr snapToGrid="0">
      <p:cViewPr varScale="1">
        <p:scale>
          <a:sx n="88" d="100"/>
          <a:sy n="88" d="100"/>
        </p:scale>
        <p:origin x="176"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3/6/26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329816-4D5E-3B44-810B-F5C416F14AE8}" type="slidenum">
              <a:rPr lang="en-US" smtClean="0"/>
              <a:t>12</a:t>
            </a:fld>
            <a:endParaRPr lang="en-US"/>
          </a:p>
        </p:txBody>
      </p:sp>
    </p:spTree>
    <p:extLst>
      <p:ext uri="{BB962C8B-B14F-4D97-AF65-F5344CB8AC3E}">
        <p14:creationId xmlns:p14="http://schemas.microsoft.com/office/powerpoint/2010/main" val="722705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F6DD-A2BD-E4AD-B42C-515CE4C1D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3D851-01A6-314C-EDDF-C2253C8735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1D92F0-072E-0915-60DA-2443246EF5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48D399-1FDA-6198-ABBF-758257AC274E}"/>
              </a:ext>
            </a:extLst>
          </p:cNvPr>
          <p:cNvSpPr>
            <a:spLocks noGrp="1"/>
          </p:cNvSpPr>
          <p:nvPr>
            <p:ph type="sldNum" sz="quarter" idx="5"/>
          </p:nvPr>
        </p:nvSpPr>
        <p:spPr/>
        <p:txBody>
          <a:bodyPr/>
          <a:lstStyle/>
          <a:p>
            <a:fld id="{68329816-4D5E-3B44-810B-F5C416F14AE8}" type="slidenum">
              <a:rPr lang="en-US" smtClean="0"/>
              <a:t>13</a:t>
            </a:fld>
            <a:endParaRPr lang="en-US"/>
          </a:p>
        </p:txBody>
      </p:sp>
    </p:spTree>
    <p:extLst>
      <p:ext uri="{BB962C8B-B14F-4D97-AF65-F5344CB8AC3E}">
        <p14:creationId xmlns:p14="http://schemas.microsoft.com/office/powerpoint/2010/main" val="2870420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06/03/26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06/03/26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06/03/26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06/03/26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06/03/26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06/03/26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06/03/26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06/03/26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06/03/26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06/03/26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06/03/26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rxiv.org/abs/2103.15822" TargetMode="External"/><Relationship Id="rId5" Type="http://schemas.openxmlformats.org/officeDocument/2006/relationships/hyperlink" Target="https://www.researchgate.net/publication/368906495_Machine_Learning_for_Classification_of_IT_Support_Tickets" TargetMode="External"/><Relationship Id="rId4" Type="http://schemas.openxmlformats.org/officeDocument/2006/relationships/hyperlink" Target="https://arxiv.org/abs/2406.01789"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norma.ncirl.ie/4416/1/sejalshah.pdf" TargetMode="External"/><Relationship Id="rId4" Type="http://schemas.openxmlformats.org/officeDocument/2006/relationships/hyperlink" Target="https://arxiv.org/pdf/2101.10848"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390" y="300355"/>
            <a:ext cx="10515600" cy="1128395"/>
          </a:xfrm>
        </p:spPr>
        <p:txBody>
          <a:bodyPr>
            <a:noAutofit/>
          </a:bodyPr>
          <a:lstStyle/>
          <a:p>
            <a:pPr algn="ctr">
              <a:lnSpc>
                <a:spcPct val="100000"/>
              </a:lnSpc>
            </a:pPr>
            <a: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t>AI Systems for Visual Intelligence</a:t>
            </a: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2</a:t>
            </a:r>
            <a:br>
              <a:rPr lang="en-US" sz="2400" b="1" dirty="0">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Project Title</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3"/>
            <a:ext cx="10515600" cy="1097555"/>
          </a:xfrm>
        </p:spPr>
        <p:txBody>
          <a:bodyPr>
            <a:noAutofit/>
          </a:bodyPr>
          <a:lstStyle/>
          <a:p>
            <a:pPr marL="0" indent="0" algn="ctr">
              <a:buNone/>
            </a:pPr>
            <a:r>
              <a:rPr lang="en-IN" sz="2000" b="1" dirty="0"/>
              <a:t>Team No - 14</a:t>
            </a:r>
          </a:p>
          <a:p>
            <a:pPr marL="0" indent="0" algn="ctr">
              <a:buNone/>
            </a:pPr>
            <a:r>
              <a:rPr lang="en-IN" sz="2000" b="1" dirty="0"/>
              <a:t>Roll No		Name</a:t>
            </a:r>
            <a:endParaRPr lang="en-US" sz="2000" b="1" dirty="0"/>
          </a:p>
          <a:p>
            <a:pPr marL="0" indent="0" algn="ctr">
              <a:buNone/>
            </a:pPr>
            <a:r>
              <a:rPr lang="en-US" sz="2000" b="1" dirty="0"/>
              <a:t>2320030424 – ALLAM SUBHASH</a:t>
            </a:r>
          </a:p>
          <a:p>
            <a:pPr marL="0" indent="0" algn="ctr">
              <a:buNone/>
            </a:pPr>
            <a:r>
              <a:rPr lang="en-US" sz="2000" b="1" dirty="0"/>
              <a:t>2320030228 – SHAHID NAWAZ</a:t>
            </a:r>
          </a:p>
          <a:p>
            <a:pPr marL="0" indent="0" algn="ctr">
              <a:buNone/>
            </a:pPr>
            <a:r>
              <a:rPr lang="en-US" sz="2000" b="1" dirty="0"/>
              <a:t>232003339 - SHAIKSHAVALI</a:t>
            </a:r>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06/03/26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a:stretch>
            <a:fillRect/>
          </a:stretch>
        </p:blipFill>
        <p:spPr>
          <a:xfrm>
            <a:off x="0" y="0"/>
            <a:ext cx="1458484" cy="690861"/>
          </a:xfrm>
          <a:prstGeom prst="rect">
            <a:avLst/>
          </a:prstGeom>
        </p:spPr>
      </p:pic>
      <p:pic>
        <p:nvPicPr>
          <p:cNvPr id="4" name="Picture 3">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14232" y="-8397"/>
            <a:ext cx="1458484" cy="738296"/>
          </a:xfrm>
          <a:prstGeom prst="rect">
            <a:avLst/>
          </a:prstGeom>
        </p:spPr>
      </p:pic>
      <p:pic>
        <p:nvPicPr>
          <p:cNvPr id="11" name="Picture 10">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4757159" y="4834502"/>
            <a:ext cx="2549961" cy="11461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fontScale="850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Existing System</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System</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Software Requirements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Hardware Requirements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Functional Requirements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Non-Functional Requirements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System Architecture</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Module Design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06/03/26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pic>
        <p:nvPicPr>
          <p:cNvPr id="4" name="Picture 3">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0" y="-660"/>
            <a:ext cx="1567442" cy="7424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 Abstract </a:t>
            </a:r>
            <a:br>
              <a:rPr lang="en-IN" b="1" dirty="0"/>
            </a:br>
            <a:endParaRPr lang="en-IN"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50731"/>
            <a:ext cx="10515600" cy="5002923"/>
          </a:xfrm>
        </p:spPr>
        <p:txBody>
          <a:bodyPr>
            <a:normAutofit/>
          </a:bodyPr>
          <a:lstStyle/>
          <a:p>
            <a:r>
              <a:rPr lang="en-IN" sz="2000" dirty="0">
                <a:latin typeface="Times New Roman" panose="02020603050405020304" pitchFamily="18" charset="0"/>
                <a:cs typeface="Times New Roman" panose="02020603050405020304" pitchFamily="18" charset="0"/>
              </a:rPr>
              <a:t>Big Data refers to extremely large datasets that cannot be processed efficiently using traditional data processing systems. These datasets are characterized by high volume, velocity, and variety. Customer support systems generate large amounts of textual data in the form of support tickets, making them suitable for Big Data analysis.</a:t>
            </a:r>
          </a:p>
          <a:p>
            <a:r>
              <a:rPr lang="en-IN" sz="2000" dirty="0">
                <a:latin typeface="Times New Roman" panose="02020603050405020304" pitchFamily="18" charset="0"/>
                <a:cs typeface="Times New Roman" panose="02020603050405020304" pitchFamily="18" charset="0"/>
              </a:rPr>
              <a:t>Customer Support Ticket Classification is the process of automatically categorizing customer support requests based on the content of the ticket. In organizations that receive thousands of support requests daily, manual classification becomes inefficient and time-consuming.</a:t>
            </a:r>
          </a:p>
          <a:p>
            <a:r>
              <a:rPr lang="en-IN" sz="2000" dirty="0">
                <a:latin typeface="Times New Roman" panose="02020603050405020304" pitchFamily="18" charset="0"/>
                <a:cs typeface="Times New Roman" panose="02020603050405020304" pitchFamily="18" charset="0"/>
              </a:rPr>
              <a:t>By using Big Data technologies such as Hadoop and Apache Spark, organizations can process large-scale customer ticket datasets efficiently. Natural Language Processing (NLP) techniques are used to analyze ticket text and extract useful information. Machine learning models are then trained on historical ticket data to automatically classify new tickets.</a:t>
            </a:r>
          </a:p>
          <a:p>
            <a:r>
              <a:rPr lang="en-IN" sz="2000" dirty="0">
                <a:latin typeface="Times New Roman" panose="02020603050405020304" pitchFamily="18" charset="0"/>
                <a:cs typeface="Times New Roman" panose="02020603050405020304" pitchFamily="18" charset="0"/>
              </a:rPr>
              <a:t>This automated approach helps organizations reduce manual effort, improve response time, and enhance customer satisfaction.</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06/03/26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1" y="0"/>
            <a:ext cx="1458484" cy="807928"/>
          </a:xfrm>
          <a:prstGeom prst="rect">
            <a:avLst/>
          </a:prstGeom>
        </p:spPr>
      </p:pic>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normAutofit/>
          </a:bodyPr>
          <a:lstStyle/>
          <a:p>
            <a:pPr algn="ctr"/>
            <a:r>
              <a:rPr lang="en-IN" sz="4000" b="1" dirty="0">
                <a:latin typeface="Times New Roman" panose="02020603050405020304" pitchFamily="18" charset="0"/>
                <a:cs typeface="Times New Roman" panose="02020603050405020304" pitchFamily="18" charset="0"/>
              </a:rPr>
              <a:t> Introduction</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250731"/>
            <a:ext cx="10515600" cy="5002923"/>
          </a:xfrm>
        </p:spPr>
        <p:txBody>
          <a:bodyPr>
            <a:normAutofit/>
          </a:bodyPr>
          <a:lstStyle/>
          <a:p>
            <a:r>
              <a:rPr lang="en-IN" sz="2000" dirty="0">
                <a:latin typeface="Times New Roman" panose="02020603050405020304" pitchFamily="18" charset="0"/>
                <a:cs typeface="Times New Roman" panose="02020603050405020304" pitchFamily="18" charset="0"/>
              </a:rPr>
              <a:t>Customer support is a critical part of any business organization. Companies receive customer queries through emails, chat systems, web forms, or helpdesk platforms. These queries are usually converted into support tickets that need to be handled by customer service teams.</a:t>
            </a:r>
          </a:p>
          <a:p>
            <a:r>
              <a:rPr lang="en-IN" sz="2000" dirty="0">
                <a:latin typeface="Times New Roman" panose="02020603050405020304" pitchFamily="18" charset="0"/>
                <a:cs typeface="Times New Roman" panose="02020603050405020304" pitchFamily="18" charset="0"/>
              </a:rPr>
              <a:t>As the number of customers increases, the volume of support tickets also grows significantly. Manual classification of these tickets into different categories is inefficient and prone to human errors. Therefore, an automated system is required to classify support tickets quickly and accurately.</a:t>
            </a:r>
          </a:p>
          <a:p>
            <a:r>
              <a:rPr lang="en-IN" sz="2000" dirty="0">
                <a:latin typeface="Times New Roman" panose="02020603050405020304" pitchFamily="18" charset="0"/>
                <a:cs typeface="Times New Roman" panose="02020603050405020304" pitchFamily="18" charset="0"/>
              </a:rPr>
              <a:t>Customer Support Ticket Classification uses </a:t>
            </a:r>
            <a:r>
              <a:rPr lang="en-IN" sz="2000" b="1" dirty="0">
                <a:latin typeface="Times New Roman" panose="02020603050405020304" pitchFamily="18" charset="0"/>
                <a:cs typeface="Times New Roman" panose="02020603050405020304" pitchFamily="18" charset="0"/>
              </a:rPr>
              <a:t>Machine Learning and Natural Language Processing techniques</a:t>
            </a:r>
            <a:r>
              <a:rPr lang="en-IN" sz="2000" dirty="0">
                <a:latin typeface="Times New Roman" panose="02020603050405020304" pitchFamily="18" charset="0"/>
                <a:cs typeface="Times New Roman" panose="02020603050405020304" pitchFamily="18" charset="0"/>
              </a:rPr>
              <a:t> to analyze ticket text and assign it to the correct category automatically. This system improves productivity, reduces operational costs, and ensures faster resolution of customer issues.</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06/03/26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a:stretch>
            <a:fillRect/>
          </a:stretch>
        </p:blipFill>
        <p:spPr>
          <a:xfrm>
            <a:off x="0" y="19694"/>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0" y="-20640"/>
            <a:ext cx="1458484" cy="771527"/>
          </a:xfrm>
          <a:prstGeom prst="rect">
            <a:avLst/>
          </a:prstGeom>
        </p:spPr>
      </p:pic>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91B9-82CB-6ED6-87EC-F15AD90EE837}"/>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 Existing System</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2446A5-6EDA-15E3-3557-9693CAC30219}"/>
              </a:ext>
            </a:extLst>
          </p:cNvPr>
          <p:cNvSpPr>
            <a:spLocks noGrp="1"/>
          </p:cNvSpPr>
          <p:nvPr>
            <p:ph idx="1"/>
          </p:nvPr>
        </p:nvSpPr>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In the traditional system, customer support tickets are handled manually by support agents or administrators. When a customer submits a ticket, the support team reads the ticket description and assigns it to the appropriate department.</a:t>
            </a:r>
          </a:p>
          <a:p>
            <a:r>
              <a:rPr lang="en-IN" b="1" dirty="0">
                <a:latin typeface="Times New Roman" panose="02020603050405020304" pitchFamily="18" charset="0"/>
                <a:cs typeface="Times New Roman" panose="02020603050405020304" pitchFamily="18" charset="0"/>
              </a:rPr>
              <a:t>Limitations of Existing System</a:t>
            </a:r>
          </a:p>
          <a:p>
            <a:r>
              <a:rPr lang="en-IN" dirty="0">
                <a:latin typeface="Times New Roman" panose="02020603050405020304" pitchFamily="18" charset="0"/>
                <a:cs typeface="Times New Roman" panose="02020603050405020304" pitchFamily="18" charset="0"/>
              </a:rPr>
              <a:t>Manual ticket categorization</a:t>
            </a:r>
          </a:p>
          <a:p>
            <a:r>
              <a:rPr lang="en-IN" dirty="0">
                <a:latin typeface="Times New Roman" panose="02020603050405020304" pitchFamily="18" charset="0"/>
                <a:cs typeface="Times New Roman" panose="02020603050405020304" pitchFamily="18" charset="0"/>
              </a:rPr>
              <a:t>Time-consuming process</a:t>
            </a:r>
          </a:p>
          <a:p>
            <a:r>
              <a:rPr lang="en-IN" dirty="0">
                <a:latin typeface="Times New Roman" panose="02020603050405020304" pitchFamily="18" charset="0"/>
                <a:cs typeface="Times New Roman" panose="02020603050405020304" pitchFamily="18" charset="0"/>
              </a:rPr>
              <a:t>Difficult to handle large volumes of tickets</a:t>
            </a:r>
          </a:p>
          <a:p>
            <a:r>
              <a:rPr lang="en-IN" dirty="0">
                <a:latin typeface="Times New Roman" panose="02020603050405020304" pitchFamily="18" charset="0"/>
                <a:cs typeface="Times New Roman" panose="02020603050405020304" pitchFamily="18" charset="0"/>
              </a:rPr>
              <a:t>High possibility of errors</a:t>
            </a:r>
          </a:p>
          <a:p>
            <a:r>
              <a:rPr lang="en-IN" dirty="0">
                <a:latin typeface="Times New Roman" panose="02020603050405020304" pitchFamily="18" charset="0"/>
                <a:cs typeface="Times New Roman" panose="02020603050405020304" pitchFamily="18" charset="0"/>
              </a:rPr>
              <a:t>Delayed customer response</a:t>
            </a:r>
          </a:p>
          <a:p>
            <a:r>
              <a:rPr lang="en-IN" dirty="0">
                <a:latin typeface="Times New Roman" panose="02020603050405020304" pitchFamily="18" charset="0"/>
                <a:cs typeface="Times New Roman" panose="02020603050405020304" pitchFamily="18" charset="0"/>
              </a:rPr>
              <a:t>Lack of scalability for large datasets</a:t>
            </a:r>
          </a:p>
          <a:p>
            <a:r>
              <a:rPr lang="en-IN" dirty="0">
                <a:latin typeface="Times New Roman" panose="02020603050405020304" pitchFamily="18" charset="0"/>
                <a:cs typeface="Times New Roman" panose="02020603050405020304" pitchFamily="18" charset="0"/>
              </a:rPr>
              <a:t>Traditional systems are not designed to handle large-scale data generated by modern customer support platforms.</a:t>
            </a:r>
          </a:p>
        </p:txBody>
      </p:sp>
      <p:sp>
        <p:nvSpPr>
          <p:cNvPr id="4" name="Date Placeholder 3">
            <a:extLst>
              <a:ext uri="{FF2B5EF4-FFF2-40B4-BE49-F238E27FC236}">
                <a16:creationId xmlns:a16="http://schemas.microsoft.com/office/drawing/2014/main" id="{258A71D8-AEE6-1414-9A6E-F7CE99CDDD7D}"/>
              </a:ext>
            </a:extLst>
          </p:cNvPr>
          <p:cNvSpPr>
            <a:spLocks noGrp="1"/>
          </p:cNvSpPr>
          <p:nvPr>
            <p:ph type="dt" sz="half" idx="10"/>
          </p:nvPr>
        </p:nvSpPr>
        <p:spPr/>
        <p:txBody>
          <a:bodyPr/>
          <a:lstStyle/>
          <a:p>
            <a:fld id="{C7A4DE8B-8D6B-8C46-B882-6A2CD2BC96F0}" type="datetime1">
              <a:rPr lang="en-IN" smtClean="0"/>
              <a:t>06/03/26</a:t>
            </a:fld>
            <a:endParaRPr lang="en-US"/>
          </a:p>
        </p:txBody>
      </p:sp>
      <p:sp>
        <p:nvSpPr>
          <p:cNvPr id="5" name="Footer Placeholder 4">
            <a:extLst>
              <a:ext uri="{FF2B5EF4-FFF2-40B4-BE49-F238E27FC236}">
                <a16:creationId xmlns:a16="http://schemas.microsoft.com/office/drawing/2014/main" id="{28F6A655-72A0-BC3A-8B24-F2967DF89AF3}"/>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F2A8CA26-E68A-9042-3FB1-8AE5A1602A46}"/>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8" name="Picture 7">
            <a:extLst>
              <a:ext uri="{FF2B5EF4-FFF2-40B4-BE49-F238E27FC236}">
                <a16:creationId xmlns:a16="http://schemas.microsoft.com/office/drawing/2014/main" id="{913B9AEE-7FB6-073A-812D-324DEFBE647F}"/>
              </a:ext>
            </a:extLst>
          </p:cNvPr>
          <p:cNvPicPr>
            <a:picLocks noChangeAspect="1"/>
          </p:cNvPicPr>
          <p:nvPr/>
        </p:nvPicPr>
        <p:blipFill>
          <a:blip r:embed="rId2"/>
          <a:stretch>
            <a:fillRect/>
          </a:stretch>
        </p:blipFill>
        <p:spPr>
          <a:xfrm>
            <a:off x="1" y="0"/>
            <a:ext cx="1618734" cy="807928"/>
          </a:xfrm>
          <a:prstGeom prst="rect">
            <a:avLst/>
          </a:prstGeom>
        </p:spPr>
      </p:pic>
    </p:spTree>
    <p:extLst>
      <p:ext uri="{BB962C8B-B14F-4D97-AF65-F5344CB8AC3E}">
        <p14:creationId xmlns:p14="http://schemas.microsoft.com/office/powerpoint/2010/main" val="3086478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250731"/>
            <a:ext cx="10515600" cy="5002923"/>
          </a:xfrm>
        </p:spPr>
        <p:txBody>
          <a:bodyPr>
            <a:noAutofit/>
          </a:bodyPr>
          <a:lstStyle/>
          <a:p>
            <a:r>
              <a:rPr lang="en-IN" sz="1800" dirty="0"/>
              <a:t>The proposed system uses Big Data technologies to automate the classification of customer support tickets.</a:t>
            </a:r>
          </a:p>
          <a:p>
            <a:r>
              <a:rPr lang="en-IN" sz="1800" dirty="0"/>
              <a:t>Customer ticket data is collected and stored in distributed storage systems such as Hadoop Distributed File System (HDFS). The stored data is processed using Apache Spark, which enables fast and scalable data processing. Natural Language Processing techniques are used to preprocess ticket text and extract important features.</a:t>
            </a:r>
          </a:p>
          <a:p>
            <a:r>
              <a:rPr lang="en-IN" sz="1800" dirty="0"/>
              <a:t>Machine learning algorithms are then used to train classification models that can identify patterns in customer queries. Once the model is trained, it can automatically classify new incoming tickets and route them to the appropriate support department.</a:t>
            </a:r>
          </a:p>
          <a:p>
            <a:r>
              <a:rPr lang="en-IN" sz="1800" b="1" dirty="0"/>
              <a:t>Advantages of Proposed System</a:t>
            </a:r>
          </a:p>
          <a:p>
            <a:r>
              <a:rPr lang="en-IN" sz="1800" dirty="0"/>
              <a:t>Handles large-scale datasets efficiently</a:t>
            </a:r>
          </a:p>
          <a:p>
            <a:r>
              <a:rPr lang="en-IN" sz="1800" dirty="0"/>
              <a:t>Automated ticket classification</a:t>
            </a:r>
          </a:p>
          <a:p>
            <a:r>
              <a:rPr lang="en-IN" sz="1800" dirty="0"/>
              <a:t>Faster processing using distributed computing</a:t>
            </a:r>
          </a:p>
          <a:p>
            <a:r>
              <a:rPr lang="en-IN" sz="1800" dirty="0"/>
              <a:t>Reduced manual workload</a:t>
            </a:r>
          </a:p>
          <a:p>
            <a:r>
              <a:rPr lang="en-IN" sz="1800" dirty="0"/>
              <a:t>Improved customer support efficiency</a:t>
            </a:r>
          </a:p>
          <a:p>
            <a:r>
              <a:rPr lang="en-IN" sz="1800" dirty="0"/>
              <a:t>Scalable and reliable system</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06/03/26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0" y="-396"/>
            <a:ext cx="1458484" cy="710951"/>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0FE9-B762-AAC6-2539-CEEF73D53BC4}"/>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OBJECTIVES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0BC7E3-E495-FCB4-5041-1AD62F61439B}"/>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objectives of the proposed system include the following:</a:t>
            </a:r>
          </a:p>
          <a:p>
            <a:r>
              <a:rPr lang="en-IN" dirty="0">
                <a:latin typeface="Times New Roman" panose="02020603050405020304" pitchFamily="18" charset="0"/>
                <a:cs typeface="Times New Roman" panose="02020603050405020304" pitchFamily="18" charset="0"/>
              </a:rPr>
              <a:t>To collect and store large volumes of customer support ticket data.</a:t>
            </a:r>
          </a:p>
          <a:p>
            <a:r>
              <a:rPr lang="en-IN" dirty="0">
                <a:latin typeface="Times New Roman" panose="02020603050405020304" pitchFamily="18" charset="0"/>
                <a:cs typeface="Times New Roman" panose="02020603050405020304" pitchFamily="18" charset="0"/>
              </a:rPr>
              <a:t>To process large-scale ticket data using Big Data technologies.</a:t>
            </a:r>
          </a:p>
          <a:p>
            <a:r>
              <a:rPr lang="en-IN" dirty="0">
                <a:latin typeface="Times New Roman" panose="02020603050405020304" pitchFamily="18" charset="0"/>
                <a:cs typeface="Times New Roman" panose="02020603050405020304" pitchFamily="18" charset="0"/>
              </a:rPr>
              <a:t>To apply Natural Language Processing techniques for text analysis.</a:t>
            </a:r>
          </a:p>
          <a:p>
            <a:r>
              <a:rPr lang="en-IN" dirty="0">
                <a:latin typeface="Times New Roman" panose="02020603050405020304" pitchFamily="18" charset="0"/>
                <a:cs typeface="Times New Roman" panose="02020603050405020304" pitchFamily="18" charset="0"/>
              </a:rPr>
              <a:t>To build machine learning models for ticket classification.</a:t>
            </a:r>
          </a:p>
          <a:p>
            <a:r>
              <a:rPr lang="en-IN" dirty="0">
                <a:latin typeface="Times New Roman" panose="02020603050405020304" pitchFamily="18" charset="0"/>
                <a:cs typeface="Times New Roman" panose="02020603050405020304" pitchFamily="18" charset="0"/>
              </a:rPr>
              <a:t>To improve the efficiency of customer support systems.</a:t>
            </a:r>
          </a:p>
          <a:p>
            <a:r>
              <a:rPr lang="en-IN" dirty="0">
                <a:latin typeface="Times New Roman" panose="02020603050405020304" pitchFamily="18" charset="0"/>
                <a:cs typeface="Times New Roman" panose="02020603050405020304" pitchFamily="18" charset="0"/>
              </a:rPr>
              <a:t>To reduce manual effort in ticket management.</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4D80464-283A-9FAD-982B-8D6FF6F3EF89}"/>
              </a:ext>
            </a:extLst>
          </p:cNvPr>
          <p:cNvSpPr>
            <a:spLocks noGrp="1"/>
          </p:cNvSpPr>
          <p:nvPr>
            <p:ph type="dt" sz="half" idx="10"/>
          </p:nvPr>
        </p:nvSpPr>
        <p:spPr/>
        <p:txBody>
          <a:bodyPr/>
          <a:lstStyle/>
          <a:p>
            <a:fld id="{C7A4DE8B-8D6B-8C46-B882-6A2CD2BC96F0}" type="datetime1">
              <a:rPr lang="en-IN" smtClean="0"/>
              <a:t>06/03/26</a:t>
            </a:fld>
            <a:endParaRPr lang="en-US"/>
          </a:p>
        </p:txBody>
      </p:sp>
      <p:sp>
        <p:nvSpPr>
          <p:cNvPr id="5" name="Footer Placeholder 4">
            <a:extLst>
              <a:ext uri="{FF2B5EF4-FFF2-40B4-BE49-F238E27FC236}">
                <a16:creationId xmlns:a16="http://schemas.microsoft.com/office/drawing/2014/main" id="{5696F7F8-6A8E-B70D-71AB-36A70B275A10}"/>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E4AA2B8D-9D03-D524-312E-6F00C5A9A4C1}"/>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7" name="Picture 6">
            <a:extLst>
              <a:ext uri="{FF2B5EF4-FFF2-40B4-BE49-F238E27FC236}">
                <a16:creationId xmlns:a16="http://schemas.microsoft.com/office/drawing/2014/main" id="{F892F277-4E87-24BE-E7EC-F2880A7E5F67}"/>
              </a:ext>
            </a:extLst>
          </p:cNvPr>
          <p:cNvPicPr>
            <a:picLocks noChangeAspect="1"/>
          </p:cNvPicPr>
          <p:nvPr/>
        </p:nvPicPr>
        <p:blipFill>
          <a:blip r:embed="rId2"/>
          <a:stretch>
            <a:fillRect/>
          </a:stretch>
        </p:blipFill>
        <p:spPr>
          <a:xfrm>
            <a:off x="0" y="-396"/>
            <a:ext cx="1631092" cy="710951"/>
          </a:xfrm>
          <a:prstGeom prst="rect">
            <a:avLst/>
          </a:prstGeom>
        </p:spPr>
      </p:pic>
    </p:spTree>
    <p:extLst>
      <p:ext uri="{BB962C8B-B14F-4D97-AF65-F5344CB8AC3E}">
        <p14:creationId xmlns:p14="http://schemas.microsoft.com/office/powerpoint/2010/main" val="2178856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C3086-CF08-6E8C-ED9D-5C8621E30FDB}"/>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SOFTWARE REQUIREMENTS</a:t>
            </a:r>
            <a:br>
              <a:rPr lang="en-IN"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54F27C-B9B8-62A4-7C1F-7A9578002746}"/>
              </a:ext>
            </a:extLst>
          </p:cNvPr>
          <p:cNvSpPr>
            <a:spLocks noGrp="1"/>
          </p:cNvSpPr>
          <p:nvPr>
            <p:ph idx="1"/>
          </p:nvPr>
        </p:nvSpPr>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The following software tools are required for the development of the system:</a:t>
            </a:r>
          </a:p>
          <a:p>
            <a:r>
              <a:rPr lang="en-IN" dirty="0">
                <a:latin typeface="Times New Roman" panose="02020603050405020304" pitchFamily="18" charset="0"/>
                <a:cs typeface="Times New Roman" panose="02020603050405020304" pitchFamily="18" charset="0"/>
              </a:rPr>
              <a:t>Python</a:t>
            </a:r>
          </a:p>
          <a:p>
            <a:r>
              <a:rPr lang="en-IN" dirty="0">
                <a:latin typeface="Times New Roman" panose="02020603050405020304" pitchFamily="18" charset="0"/>
                <a:cs typeface="Times New Roman" panose="02020603050405020304" pitchFamily="18" charset="0"/>
              </a:rPr>
              <a:t>Hadoop</a:t>
            </a:r>
          </a:p>
          <a:p>
            <a:r>
              <a:rPr lang="en-IN" dirty="0">
                <a:latin typeface="Times New Roman" panose="02020603050405020304" pitchFamily="18" charset="0"/>
                <a:cs typeface="Times New Roman" panose="02020603050405020304" pitchFamily="18" charset="0"/>
              </a:rPr>
              <a:t>Apache Spark</a:t>
            </a:r>
          </a:p>
          <a:p>
            <a:r>
              <a:rPr lang="en-IN" dirty="0">
                <a:latin typeface="Times New Roman" panose="02020603050405020304" pitchFamily="18" charset="0"/>
                <a:cs typeface="Times New Roman" panose="02020603050405020304" pitchFamily="18" charset="0"/>
              </a:rPr>
              <a:t>Apache Hive</a:t>
            </a:r>
          </a:p>
          <a:p>
            <a:r>
              <a:rPr lang="en-IN" dirty="0">
                <a:latin typeface="Times New Roman" panose="02020603050405020304" pitchFamily="18" charset="0"/>
                <a:cs typeface="Times New Roman" panose="02020603050405020304" pitchFamily="18" charset="0"/>
              </a:rPr>
              <a:t>Python IDE (VS Code /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a:t>
            </a:r>
          </a:p>
          <a:p>
            <a:r>
              <a:rPr lang="en-IN" dirty="0">
                <a:latin typeface="Times New Roman" panose="02020603050405020304" pitchFamily="18" charset="0"/>
                <a:cs typeface="Times New Roman" panose="02020603050405020304" pitchFamily="18" charset="0"/>
              </a:rPr>
              <a:t>GitHub</a:t>
            </a:r>
          </a:p>
          <a:p>
            <a:r>
              <a:rPr lang="en-IN" dirty="0">
                <a:latin typeface="Times New Roman" panose="02020603050405020304" pitchFamily="18" charset="0"/>
                <a:cs typeface="Times New Roman" panose="02020603050405020304" pitchFamily="18" charset="0"/>
              </a:rPr>
              <a:t>NLP Libraries (NLTK / </a:t>
            </a:r>
            <a:r>
              <a:rPr lang="en-IN" dirty="0" err="1">
                <a:latin typeface="Times New Roman" panose="02020603050405020304" pitchFamily="18" charset="0"/>
                <a:cs typeface="Times New Roman" panose="02020603050405020304" pitchFamily="18" charset="0"/>
              </a:rPr>
              <a:t>SpaCy</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Scikit-learn</a:t>
            </a:r>
          </a:p>
          <a:p>
            <a:r>
              <a:rPr lang="en-IN" dirty="0">
                <a:latin typeface="Times New Roman" panose="02020603050405020304" pitchFamily="18" charset="0"/>
                <a:cs typeface="Times New Roman" panose="02020603050405020304" pitchFamily="18" charset="0"/>
              </a:rPr>
              <a:t>Flask or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(for deployment)</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D162C71-5D1A-2305-6733-CA55CEF18302}"/>
              </a:ext>
            </a:extLst>
          </p:cNvPr>
          <p:cNvSpPr>
            <a:spLocks noGrp="1"/>
          </p:cNvSpPr>
          <p:nvPr>
            <p:ph type="dt" sz="half" idx="10"/>
          </p:nvPr>
        </p:nvSpPr>
        <p:spPr/>
        <p:txBody>
          <a:bodyPr/>
          <a:lstStyle/>
          <a:p>
            <a:fld id="{C7A4DE8B-8D6B-8C46-B882-6A2CD2BC96F0}" type="datetime1">
              <a:rPr lang="en-IN" smtClean="0"/>
              <a:t>06/03/26</a:t>
            </a:fld>
            <a:endParaRPr lang="en-US" dirty="0"/>
          </a:p>
        </p:txBody>
      </p:sp>
      <p:sp>
        <p:nvSpPr>
          <p:cNvPr id="5" name="Footer Placeholder 4">
            <a:extLst>
              <a:ext uri="{FF2B5EF4-FFF2-40B4-BE49-F238E27FC236}">
                <a16:creationId xmlns:a16="http://schemas.microsoft.com/office/drawing/2014/main" id="{280CA953-EA65-5061-82C4-91CD8286B830}"/>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2366DCED-EECB-6D4C-F82E-E7778DD7943D}"/>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7" name="Picture 6">
            <a:extLst>
              <a:ext uri="{FF2B5EF4-FFF2-40B4-BE49-F238E27FC236}">
                <a16:creationId xmlns:a16="http://schemas.microsoft.com/office/drawing/2014/main" id="{13D37D65-CCC0-8B6A-7783-8AA45456512A}"/>
              </a:ext>
            </a:extLst>
          </p:cNvPr>
          <p:cNvPicPr>
            <a:picLocks noChangeAspect="1"/>
          </p:cNvPicPr>
          <p:nvPr/>
        </p:nvPicPr>
        <p:blipFill>
          <a:blip r:embed="rId2"/>
          <a:stretch>
            <a:fillRect/>
          </a:stretch>
        </p:blipFill>
        <p:spPr>
          <a:xfrm>
            <a:off x="0" y="-396"/>
            <a:ext cx="1631092" cy="710951"/>
          </a:xfrm>
          <a:prstGeom prst="rect">
            <a:avLst/>
          </a:prstGeom>
        </p:spPr>
      </p:pic>
    </p:spTree>
    <p:extLst>
      <p:ext uri="{BB962C8B-B14F-4D97-AF65-F5344CB8AC3E}">
        <p14:creationId xmlns:p14="http://schemas.microsoft.com/office/powerpoint/2010/main" val="3612743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AFCA-7CD6-7636-336D-E0960FB2622A}"/>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HARDWARE REQUIREMENTS</a:t>
            </a:r>
            <a:br>
              <a:rPr lang="en-IN" sz="4000" b="1"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6802A9-28BE-5AC3-5809-5BDCBD854F02}"/>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hardware requirements for the system include:</a:t>
            </a:r>
          </a:p>
          <a:p>
            <a:r>
              <a:rPr lang="en-IN" dirty="0">
                <a:latin typeface="Times New Roman" panose="02020603050405020304" pitchFamily="18" charset="0"/>
                <a:cs typeface="Times New Roman" panose="02020603050405020304" pitchFamily="18" charset="0"/>
              </a:rPr>
              <a:t>Processor – Intel i3 or higher</a:t>
            </a:r>
          </a:p>
          <a:p>
            <a:r>
              <a:rPr lang="en-IN" dirty="0">
                <a:latin typeface="Times New Roman" panose="02020603050405020304" pitchFamily="18" charset="0"/>
                <a:cs typeface="Times New Roman" panose="02020603050405020304" pitchFamily="18" charset="0"/>
              </a:rPr>
              <a:t>RAM – 8 GB or higher</a:t>
            </a:r>
          </a:p>
          <a:p>
            <a:r>
              <a:rPr lang="en-IN" dirty="0">
                <a:latin typeface="Times New Roman" panose="02020603050405020304" pitchFamily="18" charset="0"/>
                <a:cs typeface="Times New Roman" panose="02020603050405020304" pitchFamily="18" charset="0"/>
              </a:rPr>
              <a:t>Storage – 50 GB or higher</a:t>
            </a:r>
          </a:p>
          <a:p>
            <a:r>
              <a:rPr lang="en-IN" dirty="0">
                <a:latin typeface="Times New Roman" panose="02020603050405020304" pitchFamily="18" charset="0"/>
                <a:cs typeface="Times New Roman" panose="02020603050405020304" pitchFamily="18" charset="0"/>
              </a:rPr>
              <a:t>Operating System – Windows / Linux</a:t>
            </a:r>
          </a:p>
          <a:p>
            <a:r>
              <a:rPr lang="en-IN" dirty="0">
                <a:latin typeface="Times New Roman" panose="02020603050405020304" pitchFamily="18" charset="0"/>
                <a:cs typeface="Times New Roman" panose="02020603050405020304" pitchFamily="18" charset="0"/>
              </a:rPr>
              <a:t>Distributed computing environment (optional cluster)</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EE6CD93-E47E-68C1-060F-9A5B5C6970CA}"/>
              </a:ext>
            </a:extLst>
          </p:cNvPr>
          <p:cNvSpPr>
            <a:spLocks noGrp="1"/>
          </p:cNvSpPr>
          <p:nvPr>
            <p:ph type="dt" sz="half" idx="10"/>
          </p:nvPr>
        </p:nvSpPr>
        <p:spPr/>
        <p:txBody>
          <a:bodyPr/>
          <a:lstStyle/>
          <a:p>
            <a:fld id="{C7A4DE8B-8D6B-8C46-B882-6A2CD2BC96F0}" type="datetime1">
              <a:rPr lang="en-IN" smtClean="0"/>
              <a:t>06/03/26</a:t>
            </a:fld>
            <a:endParaRPr lang="en-US"/>
          </a:p>
        </p:txBody>
      </p:sp>
      <p:sp>
        <p:nvSpPr>
          <p:cNvPr id="5" name="Footer Placeholder 4">
            <a:extLst>
              <a:ext uri="{FF2B5EF4-FFF2-40B4-BE49-F238E27FC236}">
                <a16:creationId xmlns:a16="http://schemas.microsoft.com/office/drawing/2014/main" id="{80ACE780-F411-423D-A492-EDE44B20C1C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6E6E43F-C2AA-1670-7B86-B568402ECEBF}"/>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7" name="Picture 6">
            <a:extLst>
              <a:ext uri="{FF2B5EF4-FFF2-40B4-BE49-F238E27FC236}">
                <a16:creationId xmlns:a16="http://schemas.microsoft.com/office/drawing/2014/main" id="{39C77384-A4FE-B833-6F34-8940E1E2A2AD}"/>
              </a:ext>
            </a:extLst>
          </p:cNvPr>
          <p:cNvPicPr>
            <a:picLocks noChangeAspect="1"/>
          </p:cNvPicPr>
          <p:nvPr/>
        </p:nvPicPr>
        <p:blipFill>
          <a:blip r:embed="rId2"/>
          <a:stretch>
            <a:fillRect/>
          </a:stretch>
        </p:blipFill>
        <p:spPr>
          <a:xfrm>
            <a:off x="0" y="-396"/>
            <a:ext cx="1631092" cy="710951"/>
          </a:xfrm>
          <a:prstGeom prst="rect">
            <a:avLst/>
          </a:prstGeom>
        </p:spPr>
      </p:pic>
    </p:spTree>
    <p:extLst>
      <p:ext uri="{BB962C8B-B14F-4D97-AF65-F5344CB8AC3E}">
        <p14:creationId xmlns:p14="http://schemas.microsoft.com/office/powerpoint/2010/main" val="2416437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F2CC6-1B36-B985-D5AC-7F39B584CBE1}"/>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FUNCTIONAL REQUIREMENTS</a:t>
            </a:r>
            <a:br>
              <a:rPr lang="en-IN" sz="4000" b="1" dirty="0">
                <a:latin typeface="Times New Roman" panose="02020603050405020304" pitchFamily="18" charset="0"/>
                <a:cs typeface="Times New Roman" panose="02020603050405020304" pitchFamily="18" charset="0"/>
              </a:rPr>
            </a:br>
            <a:endParaRPr lang="en-US" sz="4000" dirty="0"/>
          </a:p>
        </p:txBody>
      </p:sp>
      <p:sp>
        <p:nvSpPr>
          <p:cNvPr id="3" name="Content Placeholder 2">
            <a:extLst>
              <a:ext uri="{FF2B5EF4-FFF2-40B4-BE49-F238E27FC236}">
                <a16:creationId xmlns:a16="http://schemas.microsoft.com/office/drawing/2014/main" id="{69FA1735-980B-FA41-8A82-6985ADD55AE9}"/>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system should collect customer support ticket data.</a:t>
            </a:r>
          </a:p>
          <a:p>
            <a:r>
              <a:rPr lang="en-IN" dirty="0">
                <a:latin typeface="Times New Roman" panose="02020603050405020304" pitchFamily="18" charset="0"/>
                <a:cs typeface="Times New Roman" panose="02020603050405020304" pitchFamily="18" charset="0"/>
              </a:rPr>
              <a:t>The system should store data using distributed storage systems.</a:t>
            </a:r>
          </a:p>
          <a:p>
            <a:r>
              <a:rPr lang="en-IN" dirty="0">
                <a:latin typeface="Times New Roman" panose="02020603050405020304" pitchFamily="18" charset="0"/>
                <a:cs typeface="Times New Roman" panose="02020603050405020304" pitchFamily="18" charset="0"/>
              </a:rPr>
              <a:t>The system should preprocess text data using NLP techniques.</a:t>
            </a:r>
          </a:p>
          <a:p>
            <a:r>
              <a:rPr lang="en-IN" dirty="0">
                <a:latin typeface="Times New Roman" panose="02020603050405020304" pitchFamily="18" charset="0"/>
                <a:cs typeface="Times New Roman" panose="02020603050405020304" pitchFamily="18" charset="0"/>
              </a:rPr>
              <a:t>The system should train machine learning models.</a:t>
            </a:r>
          </a:p>
          <a:p>
            <a:r>
              <a:rPr lang="en-IN" dirty="0">
                <a:latin typeface="Times New Roman" panose="02020603050405020304" pitchFamily="18" charset="0"/>
                <a:cs typeface="Times New Roman" panose="02020603050405020304" pitchFamily="18" charset="0"/>
              </a:rPr>
              <a:t>The system should classify new support tickets automatically.</a:t>
            </a:r>
          </a:p>
          <a:p>
            <a:r>
              <a:rPr lang="en-IN" dirty="0">
                <a:latin typeface="Times New Roman" panose="02020603050405020304" pitchFamily="18" charset="0"/>
                <a:cs typeface="Times New Roman" panose="02020603050405020304" pitchFamily="18" charset="0"/>
              </a:rPr>
              <a:t>The system should route tickets to the appropriate department.</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DE53BC2-37FA-CCB6-E83F-247A3E5EF7CD}"/>
              </a:ext>
            </a:extLst>
          </p:cNvPr>
          <p:cNvSpPr>
            <a:spLocks noGrp="1"/>
          </p:cNvSpPr>
          <p:nvPr>
            <p:ph type="dt" sz="half" idx="10"/>
          </p:nvPr>
        </p:nvSpPr>
        <p:spPr/>
        <p:txBody>
          <a:bodyPr/>
          <a:lstStyle/>
          <a:p>
            <a:fld id="{C7A4DE8B-8D6B-8C46-B882-6A2CD2BC96F0}" type="datetime1">
              <a:rPr lang="en-IN" smtClean="0"/>
              <a:t>06/03/26</a:t>
            </a:fld>
            <a:endParaRPr lang="en-US"/>
          </a:p>
        </p:txBody>
      </p:sp>
      <p:sp>
        <p:nvSpPr>
          <p:cNvPr id="5" name="Footer Placeholder 4">
            <a:extLst>
              <a:ext uri="{FF2B5EF4-FFF2-40B4-BE49-F238E27FC236}">
                <a16:creationId xmlns:a16="http://schemas.microsoft.com/office/drawing/2014/main" id="{3592A746-60D7-8E1D-7C82-1DCEC5CF181F}"/>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F38E2A12-C11D-3B64-F9B8-4E2EB17D3ACC}"/>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7" name="Picture 6">
            <a:extLst>
              <a:ext uri="{FF2B5EF4-FFF2-40B4-BE49-F238E27FC236}">
                <a16:creationId xmlns:a16="http://schemas.microsoft.com/office/drawing/2014/main" id="{23632C2F-60D5-9FB7-13F2-1D0FE41CB0D0}"/>
              </a:ext>
            </a:extLst>
          </p:cNvPr>
          <p:cNvPicPr>
            <a:picLocks noChangeAspect="1"/>
          </p:cNvPicPr>
          <p:nvPr/>
        </p:nvPicPr>
        <p:blipFill>
          <a:blip r:embed="rId2"/>
          <a:stretch>
            <a:fillRect/>
          </a:stretch>
        </p:blipFill>
        <p:spPr>
          <a:xfrm>
            <a:off x="-1" y="1"/>
            <a:ext cx="1667435" cy="807928"/>
          </a:xfrm>
          <a:prstGeom prst="rect">
            <a:avLst/>
          </a:prstGeom>
        </p:spPr>
      </p:pic>
    </p:spTree>
    <p:extLst>
      <p:ext uri="{BB962C8B-B14F-4D97-AF65-F5344CB8AC3E}">
        <p14:creationId xmlns:p14="http://schemas.microsoft.com/office/powerpoint/2010/main" val="3375957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E6C13-1234-7451-C116-99EB9711F9B3}"/>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NON-FUNCTIONAL REQUIREMENTS</a:t>
            </a:r>
            <a:br>
              <a:rPr lang="en-IN" sz="3600" b="1" dirty="0">
                <a:latin typeface="Times New Roman" panose="02020603050405020304" pitchFamily="18" charset="0"/>
                <a:cs typeface="Times New Roman" panose="02020603050405020304" pitchFamily="18" charset="0"/>
              </a:rPr>
            </a:br>
            <a:endParaRPr lang="en-US" sz="3600" dirty="0"/>
          </a:p>
        </p:txBody>
      </p:sp>
      <p:sp>
        <p:nvSpPr>
          <p:cNvPr id="3" name="Content Placeholder 2">
            <a:extLst>
              <a:ext uri="{FF2B5EF4-FFF2-40B4-BE49-F238E27FC236}">
                <a16:creationId xmlns:a16="http://schemas.microsoft.com/office/drawing/2014/main" id="{011FF4DA-7D86-8FBA-2EEE-7E2B5F66C057}"/>
              </a:ext>
            </a:extLst>
          </p:cNvPr>
          <p:cNvSpPr>
            <a:spLocks noGrp="1"/>
          </p:cNvSpPr>
          <p:nvPr>
            <p:ph idx="1"/>
          </p:nvPr>
        </p:nvSpPr>
        <p:spPr/>
        <p:txBody>
          <a:bodyPr>
            <a:normAutofit fontScale="92500" lnSpcReduction="10000"/>
          </a:bodyPr>
          <a:lstStyle/>
          <a:p>
            <a:r>
              <a:rPr lang="en-IN" b="1" dirty="0">
                <a:latin typeface="Times New Roman" panose="02020603050405020304" pitchFamily="18" charset="0"/>
                <a:cs typeface="Times New Roman" panose="02020603050405020304" pitchFamily="18" charset="0"/>
              </a:rPr>
              <a:t>Reliability</a:t>
            </a:r>
          </a:p>
          <a:p>
            <a:r>
              <a:rPr lang="en-IN" dirty="0">
                <a:latin typeface="Times New Roman" panose="02020603050405020304" pitchFamily="18" charset="0"/>
                <a:cs typeface="Times New Roman" panose="02020603050405020304" pitchFamily="18" charset="0"/>
              </a:rPr>
              <a:t>The system should consistently provide accurate classification results.</a:t>
            </a:r>
          </a:p>
          <a:p>
            <a:r>
              <a:rPr lang="en-IN" b="1" dirty="0">
                <a:latin typeface="Times New Roman" panose="02020603050405020304" pitchFamily="18" charset="0"/>
                <a:cs typeface="Times New Roman" panose="02020603050405020304" pitchFamily="18" charset="0"/>
              </a:rPr>
              <a:t>Security</a:t>
            </a:r>
          </a:p>
          <a:p>
            <a:r>
              <a:rPr lang="en-IN" dirty="0">
                <a:latin typeface="Times New Roman" panose="02020603050405020304" pitchFamily="18" charset="0"/>
                <a:cs typeface="Times New Roman" panose="02020603050405020304" pitchFamily="18" charset="0"/>
              </a:rPr>
              <a:t>Access to the system should be restricted to authorized users.</a:t>
            </a:r>
          </a:p>
          <a:p>
            <a:r>
              <a:rPr lang="en-IN" b="1" dirty="0">
                <a:latin typeface="Times New Roman" panose="02020603050405020304" pitchFamily="18" charset="0"/>
                <a:cs typeface="Times New Roman" panose="02020603050405020304" pitchFamily="18" charset="0"/>
              </a:rPr>
              <a:t>Scalability</a:t>
            </a:r>
          </a:p>
          <a:p>
            <a:r>
              <a:rPr lang="en-IN" dirty="0">
                <a:latin typeface="Times New Roman" panose="02020603050405020304" pitchFamily="18" charset="0"/>
                <a:cs typeface="Times New Roman" panose="02020603050405020304" pitchFamily="18" charset="0"/>
              </a:rPr>
              <a:t>The system should be able to process increasing volumes of customer ticket data.</a:t>
            </a:r>
          </a:p>
          <a:p>
            <a:r>
              <a:rPr lang="en-IN" b="1" dirty="0">
                <a:latin typeface="Times New Roman" panose="02020603050405020304" pitchFamily="18" charset="0"/>
                <a:cs typeface="Times New Roman" panose="02020603050405020304" pitchFamily="18" charset="0"/>
              </a:rPr>
              <a:t>Performance</a:t>
            </a:r>
          </a:p>
          <a:p>
            <a:r>
              <a:rPr lang="en-IN" dirty="0">
                <a:latin typeface="Times New Roman" panose="02020603050405020304" pitchFamily="18" charset="0"/>
                <a:cs typeface="Times New Roman" panose="02020603050405020304" pitchFamily="18" charset="0"/>
              </a:rPr>
              <a:t>The system should provide fast processing and classification of support tickets.</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A12738F-6501-1F17-094B-7E5A0EE56299}"/>
              </a:ext>
            </a:extLst>
          </p:cNvPr>
          <p:cNvSpPr>
            <a:spLocks noGrp="1"/>
          </p:cNvSpPr>
          <p:nvPr>
            <p:ph type="dt" sz="half" idx="10"/>
          </p:nvPr>
        </p:nvSpPr>
        <p:spPr/>
        <p:txBody>
          <a:bodyPr/>
          <a:lstStyle/>
          <a:p>
            <a:fld id="{C7A4DE8B-8D6B-8C46-B882-6A2CD2BC96F0}" type="datetime1">
              <a:rPr lang="en-IN" smtClean="0"/>
              <a:t>06/03/26</a:t>
            </a:fld>
            <a:endParaRPr lang="en-US"/>
          </a:p>
        </p:txBody>
      </p:sp>
      <p:sp>
        <p:nvSpPr>
          <p:cNvPr id="5" name="Footer Placeholder 4">
            <a:extLst>
              <a:ext uri="{FF2B5EF4-FFF2-40B4-BE49-F238E27FC236}">
                <a16:creationId xmlns:a16="http://schemas.microsoft.com/office/drawing/2014/main" id="{0597EB04-8861-68BC-7316-3A2B507FCF54}"/>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D55AF73-50C0-5010-297C-7C8A556A68E7}"/>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7" name="Picture 6">
            <a:extLst>
              <a:ext uri="{FF2B5EF4-FFF2-40B4-BE49-F238E27FC236}">
                <a16:creationId xmlns:a16="http://schemas.microsoft.com/office/drawing/2014/main" id="{E65F4BE6-675A-DD39-499A-574DBF29E6EA}"/>
              </a:ext>
            </a:extLst>
          </p:cNvPr>
          <p:cNvPicPr>
            <a:picLocks noChangeAspect="1"/>
          </p:cNvPicPr>
          <p:nvPr/>
        </p:nvPicPr>
        <p:blipFill>
          <a:blip r:embed="rId2"/>
          <a:stretch>
            <a:fillRect/>
          </a:stretch>
        </p:blipFill>
        <p:spPr>
          <a:xfrm>
            <a:off x="0" y="1"/>
            <a:ext cx="1645920" cy="807928"/>
          </a:xfrm>
          <a:prstGeom prst="rect">
            <a:avLst/>
          </a:prstGeom>
        </p:spPr>
      </p:pic>
    </p:spTree>
    <p:extLst>
      <p:ext uri="{BB962C8B-B14F-4D97-AF65-F5344CB8AC3E}">
        <p14:creationId xmlns:p14="http://schemas.microsoft.com/office/powerpoint/2010/main" val="2785558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06/03/26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a:stretch>
            <a:fillRect/>
          </a:stretch>
        </p:blipFill>
        <p:spPr>
          <a:xfrm>
            <a:off x="0" y="0"/>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13EBE3D9-557D-51F3-38E6-16FF593FFC12}"/>
              </a:ext>
            </a:extLst>
          </p:cNvPr>
          <p:cNvPicPr>
            <a:picLocks noChangeAspect="1"/>
          </p:cNvPicPr>
          <p:nvPr/>
        </p:nvPicPr>
        <p:blipFill>
          <a:blip r:embed="rId3"/>
          <a:stretch>
            <a:fillRect/>
          </a:stretch>
        </p:blipFill>
        <p:spPr>
          <a:xfrm>
            <a:off x="0" y="1"/>
            <a:ext cx="1458484" cy="807928"/>
          </a:xfrm>
          <a:prstGeom prst="rect">
            <a:avLst/>
          </a:prstGeom>
        </p:spPr>
      </p:pic>
      <p:graphicFrame>
        <p:nvGraphicFramePr>
          <p:cNvPr id="11" name="Table 10">
            <a:extLst>
              <a:ext uri="{FF2B5EF4-FFF2-40B4-BE49-F238E27FC236}">
                <a16:creationId xmlns:a16="http://schemas.microsoft.com/office/drawing/2014/main" id="{C8905CFE-6A16-D70D-4178-B5FBACC98298}"/>
              </a:ext>
            </a:extLst>
          </p:cNvPr>
          <p:cNvGraphicFramePr>
            <a:graphicFrameLocks noGrp="1"/>
          </p:cNvGraphicFramePr>
          <p:nvPr>
            <p:extLst>
              <p:ext uri="{D42A27DB-BD31-4B8C-83A1-F6EECF244321}">
                <p14:modId xmlns:p14="http://schemas.microsoft.com/office/powerpoint/2010/main" val="2675014991"/>
              </p:ext>
            </p:extLst>
          </p:nvPr>
        </p:nvGraphicFramePr>
        <p:xfrm>
          <a:off x="453396" y="1825624"/>
          <a:ext cx="10911290" cy="3994715"/>
        </p:xfrm>
        <a:graphic>
          <a:graphicData uri="http://schemas.openxmlformats.org/drawingml/2006/table">
            <a:tbl>
              <a:tblPr firstRow="1" bandRow="1">
                <a:tableStyleId>{073A0DAA-6AF3-43AB-8588-CEC1D06C72B9}</a:tableStyleId>
              </a:tblPr>
              <a:tblGrid>
                <a:gridCol w="2286562">
                  <a:extLst>
                    <a:ext uri="{9D8B030D-6E8A-4147-A177-3AD203B41FA5}">
                      <a16:colId xmlns:a16="http://schemas.microsoft.com/office/drawing/2014/main" val="4198511078"/>
                    </a:ext>
                  </a:extLst>
                </a:gridCol>
                <a:gridCol w="2403291">
                  <a:extLst>
                    <a:ext uri="{9D8B030D-6E8A-4147-A177-3AD203B41FA5}">
                      <a16:colId xmlns:a16="http://schemas.microsoft.com/office/drawing/2014/main" val="351455902"/>
                    </a:ext>
                  </a:extLst>
                </a:gridCol>
                <a:gridCol w="1478556">
                  <a:extLst>
                    <a:ext uri="{9D8B030D-6E8A-4147-A177-3AD203B41FA5}">
                      <a16:colId xmlns:a16="http://schemas.microsoft.com/office/drawing/2014/main" val="3672968898"/>
                    </a:ext>
                  </a:extLst>
                </a:gridCol>
                <a:gridCol w="2173596">
                  <a:extLst>
                    <a:ext uri="{9D8B030D-6E8A-4147-A177-3AD203B41FA5}">
                      <a16:colId xmlns:a16="http://schemas.microsoft.com/office/drawing/2014/main" val="165128921"/>
                    </a:ext>
                  </a:extLst>
                </a:gridCol>
                <a:gridCol w="2569285">
                  <a:extLst>
                    <a:ext uri="{9D8B030D-6E8A-4147-A177-3AD203B41FA5}">
                      <a16:colId xmlns:a16="http://schemas.microsoft.com/office/drawing/2014/main" val="2657934124"/>
                    </a:ext>
                  </a:extLst>
                </a:gridCol>
              </a:tblGrid>
              <a:tr h="832443">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tc>
                  <a:txBody>
                    <a:bodyPr/>
                    <a:lstStyle/>
                    <a:p>
                      <a:pPr algn="ctr"/>
                      <a:r>
                        <a:rPr lang="en-IN" sz="1100" dirty="0">
                          <a:latin typeface="Times New Roman" panose="02020603050405020304" pitchFamily="18" charset="0"/>
                          <a:cs typeface="Times New Roman" panose="02020603050405020304" pitchFamily="18" charset="0"/>
                        </a:rPr>
                        <a:t>Links</a:t>
                      </a:r>
                    </a:p>
                  </a:txBody>
                  <a:tcPr/>
                </a:tc>
                <a:extLst>
                  <a:ext uri="{0D108BD9-81ED-4DB2-BD59-A6C34878D82A}">
                    <a16:rowId xmlns:a16="http://schemas.microsoft.com/office/drawing/2014/main" val="3601362665"/>
                  </a:ext>
                </a:extLst>
              </a:tr>
              <a:tr h="1116316">
                <a:tc>
                  <a:txBody>
                    <a:bodyPr/>
                    <a:lstStyle/>
                    <a:p>
                      <a:pPr algn="ctr"/>
                      <a:r>
                        <a:rPr lang="en-IN" sz="1100" dirty="0">
                          <a:latin typeface="Times New Roman" panose="02020603050405020304" pitchFamily="18" charset="0"/>
                          <a:cs typeface="Times New Roman" panose="02020603050405020304" pitchFamily="18" charset="0"/>
                        </a:rPr>
                        <a:t>AI-based Classification of Customer Support Tickets: State of the Art and Implementation with </a:t>
                      </a:r>
                      <a:r>
                        <a:rPr lang="en-IN" sz="1100" dirty="0" err="1">
                          <a:latin typeface="Times New Roman" panose="02020603050405020304" pitchFamily="18" charset="0"/>
                          <a:cs typeface="Times New Roman" panose="02020603050405020304" pitchFamily="18" charset="0"/>
                        </a:rPr>
                        <a:t>AutoML</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dirty="0">
                          <a:latin typeface="Times New Roman" panose="02020603050405020304" pitchFamily="18" charset="0"/>
                          <a:cs typeface="Times New Roman" panose="02020603050405020304" pitchFamily="18" charset="0"/>
                        </a:rPr>
                        <a:t>Mario Truss, Stephan Böhm</a:t>
                      </a:r>
                    </a:p>
                  </a:txBody>
                  <a:tcPr/>
                </a:tc>
                <a:tc>
                  <a:txBody>
                    <a:bodyPr/>
                    <a:lstStyle/>
                    <a:p>
                      <a:pPr algn="ctr"/>
                      <a:r>
                        <a:rPr lang="en-IN" sz="1100" dirty="0" err="1">
                          <a:latin typeface="Times New Roman" panose="02020603050405020304" pitchFamily="18" charset="0"/>
                          <a:cs typeface="Times New Roman" panose="02020603050405020304" pitchFamily="18" charset="0"/>
                        </a:rPr>
                        <a:t>AutoML</a:t>
                      </a:r>
                      <a:r>
                        <a:rPr lang="en-IN" sz="1100" dirty="0">
                          <a:latin typeface="Times New Roman" panose="02020603050405020304" pitchFamily="18" charset="0"/>
                          <a:cs typeface="Times New Roman" panose="02020603050405020304" pitchFamily="18" charset="0"/>
                        </a:rPr>
                        <a:t>, Machine Learning, NLP</a:t>
                      </a:r>
                    </a:p>
                  </a:txBody>
                  <a:tcPr/>
                </a:tc>
                <a:tc>
                  <a:txBody>
                    <a:bodyPr/>
                    <a:lstStyle/>
                    <a:p>
                      <a:pPr algn="ctr"/>
                      <a:r>
                        <a:rPr lang="en-IN" sz="1100" b="1" dirty="0">
                          <a:latin typeface="Times New Roman" panose="02020603050405020304" pitchFamily="18" charset="0"/>
                          <a:cs typeface="Times New Roman" panose="02020603050405020304" pitchFamily="18" charset="0"/>
                        </a:rPr>
                        <a:t>Advantage:</a:t>
                      </a:r>
                      <a:r>
                        <a:rPr lang="en-IN" sz="1100" dirty="0">
                          <a:latin typeface="Times New Roman" panose="02020603050405020304" pitchFamily="18" charset="0"/>
                          <a:cs typeface="Times New Roman" panose="02020603050405020304" pitchFamily="18" charset="0"/>
                        </a:rPr>
                        <a:t> Automates ticket classification and improves accuracy. </a:t>
                      </a:r>
                      <a:br>
                        <a:rPr lang="en-IN" sz="1100"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Disadvantage:</a:t>
                      </a:r>
                      <a:r>
                        <a:rPr lang="en-IN" sz="1100" dirty="0">
                          <a:latin typeface="Times New Roman" panose="02020603050405020304" pitchFamily="18" charset="0"/>
                          <a:cs typeface="Times New Roman" panose="02020603050405020304" pitchFamily="18" charset="0"/>
                        </a:rPr>
                        <a:t> Requires large </a:t>
                      </a:r>
                      <a:r>
                        <a:rPr lang="en-IN" sz="1100" dirty="0" err="1">
                          <a:latin typeface="Times New Roman" panose="02020603050405020304" pitchFamily="18" charset="0"/>
                          <a:cs typeface="Times New Roman" panose="02020603050405020304" pitchFamily="18" charset="0"/>
                        </a:rPr>
                        <a:t>labeled</a:t>
                      </a:r>
                      <a:r>
                        <a:rPr lang="en-IN" sz="1100" dirty="0">
                          <a:latin typeface="Times New Roman" panose="02020603050405020304" pitchFamily="18" charset="0"/>
                          <a:cs typeface="Times New Roman" panose="02020603050405020304" pitchFamily="18" charset="0"/>
                        </a:rPr>
                        <a:t> datasets.</a:t>
                      </a:r>
                    </a:p>
                  </a:txBody>
                  <a:tcPr/>
                </a:tc>
                <a:tc>
                  <a:txBody>
                    <a:bodyPr/>
                    <a:lstStyle/>
                    <a:p>
                      <a:pPr algn="ctr"/>
                      <a:r>
                        <a:rPr lang="en-IN" sz="1100" dirty="0">
                          <a:latin typeface="Times New Roman" panose="02020603050405020304" pitchFamily="18" charset="0"/>
                          <a:cs typeface="Times New Roman" panose="02020603050405020304" pitchFamily="18" charset="0"/>
                          <a:hlinkClick r:id="rId4"/>
                        </a:rPr>
                        <a:t>https://arxiv.org/abs/2406.01789</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42890"/>
                  </a:ext>
                </a:extLst>
              </a:tr>
              <a:tr h="1116316">
                <a:tc>
                  <a:txBody>
                    <a:bodyPr/>
                    <a:lstStyle/>
                    <a:p>
                      <a:pPr algn="ctr"/>
                      <a:r>
                        <a:rPr lang="en-IN" sz="1100" dirty="0">
                          <a:latin typeface="Times New Roman" panose="02020603050405020304" pitchFamily="18" charset="0"/>
                          <a:cs typeface="Times New Roman" panose="02020603050405020304" pitchFamily="18" charset="0"/>
                        </a:rPr>
                        <a:t>Machine Learning for Classification of IT Support Tickets</a:t>
                      </a:r>
                    </a:p>
                  </a:txBody>
                  <a:tcPr/>
                </a:tc>
                <a:tc>
                  <a:txBody>
                    <a:bodyPr/>
                    <a:lstStyle/>
                    <a:p>
                      <a:pPr algn="ctr"/>
                      <a:r>
                        <a:rPr lang="en-IN" sz="1100" dirty="0">
                          <a:latin typeface="Times New Roman" panose="02020603050405020304" pitchFamily="18" charset="0"/>
                          <a:cs typeface="Times New Roman" panose="02020603050405020304" pitchFamily="18" charset="0"/>
                        </a:rPr>
                        <a:t>Leonardo S. B. Pereira et al.</a:t>
                      </a:r>
                    </a:p>
                  </a:txBody>
                  <a:tcPr/>
                </a:tc>
                <a:tc>
                  <a:txBody>
                    <a:bodyPr/>
                    <a:lstStyle/>
                    <a:p>
                      <a:pPr algn="ctr"/>
                      <a:r>
                        <a:rPr lang="en-IN" sz="1100" dirty="0">
                          <a:latin typeface="Times New Roman" panose="02020603050405020304" pitchFamily="18" charset="0"/>
                          <a:cs typeface="Times New Roman" panose="02020603050405020304" pitchFamily="18" charset="0"/>
                        </a:rPr>
                        <a:t>Neural Networks, Python, TensorFlow</a:t>
                      </a:r>
                    </a:p>
                  </a:txBody>
                  <a:tcPr/>
                </a:tc>
                <a:tc>
                  <a:txBody>
                    <a:bodyPr/>
                    <a:lstStyle/>
                    <a:p>
                      <a:pPr algn="ctr"/>
                      <a:r>
                        <a:rPr lang="en-IN" sz="1100" b="1" dirty="0">
                          <a:latin typeface="Times New Roman" panose="02020603050405020304" pitchFamily="18" charset="0"/>
                          <a:cs typeface="Times New Roman" panose="02020603050405020304" pitchFamily="18" charset="0"/>
                        </a:rPr>
                        <a:t>Advantage:</a:t>
                      </a:r>
                      <a:r>
                        <a:rPr lang="en-IN" sz="1100" dirty="0">
                          <a:latin typeface="Times New Roman" panose="02020603050405020304" pitchFamily="18" charset="0"/>
                          <a:cs typeface="Times New Roman" panose="02020603050405020304" pitchFamily="18" charset="0"/>
                        </a:rPr>
                        <a:t> Improves ticket routing efficiency. </a:t>
                      </a:r>
                      <a:br>
                        <a:rPr lang="en-IN" sz="1100"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Disadvantage:</a:t>
                      </a:r>
                      <a:r>
                        <a:rPr lang="en-IN" sz="1100" dirty="0">
                          <a:latin typeface="Times New Roman" panose="02020603050405020304" pitchFamily="18" charset="0"/>
                          <a:cs typeface="Times New Roman" panose="02020603050405020304" pitchFamily="18" charset="0"/>
                        </a:rPr>
                        <a:t> Model training requires high computational resources.</a:t>
                      </a:r>
                    </a:p>
                  </a:txBody>
                  <a:tcPr/>
                </a:tc>
                <a:tc>
                  <a:txBody>
                    <a:bodyPr/>
                    <a:lstStyle/>
                    <a:p>
                      <a:pPr algn="ctr"/>
                      <a:r>
                        <a:rPr lang="en-IN" sz="1100" dirty="0">
                          <a:latin typeface="Times New Roman" panose="02020603050405020304" pitchFamily="18" charset="0"/>
                          <a:cs typeface="Times New Roman" panose="02020603050405020304" pitchFamily="18" charset="0"/>
                          <a:hlinkClick r:id="rId5"/>
                        </a:rPr>
                        <a:t>https://www.researchgate.net/publication/368906495_Machine_Learning_for_Classification_of_IT_Support_Tickets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5180221"/>
                  </a:ext>
                </a:extLst>
              </a:tr>
              <a:tr h="915013">
                <a:tc>
                  <a:txBody>
                    <a:bodyPr/>
                    <a:lstStyle/>
                    <a:p>
                      <a:pPr algn="ctr"/>
                      <a:r>
                        <a:rPr lang="en-IN" sz="1100" dirty="0">
                          <a:latin typeface="Times New Roman" panose="02020603050405020304" pitchFamily="18" charset="0"/>
                          <a:cs typeface="Times New Roman" panose="02020603050405020304" pitchFamily="18" charset="0"/>
                        </a:rPr>
                        <a:t>Classifying Unstructured IT Service Desk Tickets Using Ensemble Classifiers</a:t>
                      </a:r>
                    </a:p>
                  </a:txBody>
                  <a:tcPr/>
                </a:tc>
                <a:tc>
                  <a:txBody>
                    <a:bodyPr/>
                    <a:lstStyle/>
                    <a:p>
                      <a:pPr algn="ctr"/>
                      <a:r>
                        <a:rPr lang="en-IN" sz="1100" dirty="0">
                          <a:latin typeface="Times New Roman" panose="02020603050405020304" pitchFamily="18" charset="0"/>
                          <a:cs typeface="Times New Roman" panose="02020603050405020304" pitchFamily="18" charset="0"/>
                        </a:rPr>
                        <a:t>Ramya C., Paramesh S.P., </a:t>
                      </a:r>
                      <a:r>
                        <a:rPr lang="en-IN" sz="1100" dirty="0" err="1">
                          <a:latin typeface="Times New Roman" panose="02020603050405020304" pitchFamily="18" charset="0"/>
                          <a:cs typeface="Times New Roman" panose="02020603050405020304" pitchFamily="18" charset="0"/>
                        </a:rPr>
                        <a:t>Shreedhara</a:t>
                      </a:r>
                      <a:r>
                        <a:rPr lang="en-IN" sz="1100" dirty="0">
                          <a:latin typeface="Times New Roman" panose="02020603050405020304" pitchFamily="18" charset="0"/>
                          <a:cs typeface="Times New Roman" panose="02020603050405020304" pitchFamily="18" charset="0"/>
                        </a:rPr>
                        <a:t> K.S.</a:t>
                      </a:r>
                    </a:p>
                  </a:txBody>
                  <a:tcPr/>
                </a:tc>
                <a:tc>
                  <a:txBody>
                    <a:bodyPr/>
                    <a:lstStyle/>
                    <a:p>
                      <a:pPr algn="ctr"/>
                      <a:r>
                        <a:rPr lang="en-IN" sz="1100" dirty="0">
                          <a:latin typeface="Times New Roman" panose="02020603050405020304" pitchFamily="18" charset="0"/>
                          <a:cs typeface="Times New Roman" panose="02020603050405020304" pitchFamily="18" charset="0"/>
                        </a:rPr>
                        <a:t>Ensemble Learning, Machine Learning</a:t>
                      </a:r>
                    </a:p>
                  </a:txBody>
                  <a:tcPr/>
                </a:tc>
                <a:tc>
                  <a:txBody>
                    <a:bodyPr/>
                    <a:lstStyle/>
                    <a:p>
                      <a:pPr algn="ctr"/>
                      <a:r>
                        <a:rPr lang="en-IN" sz="1100" b="1" dirty="0">
                          <a:latin typeface="Times New Roman" panose="02020603050405020304" pitchFamily="18" charset="0"/>
                          <a:cs typeface="Times New Roman" panose="02020603050405020304" pitchFamily="18" charset="0"/>
                        </a:rPr>
                        <a:t>Advantage:</a:t>
                      </a:r>
                      <a:r>
                        <a:rPr lang="en-IN" sz="1100" dirty="0">
                          <a:latin typeface="Times New Roman" panose="02020603050405020304" pitchFamily="18" charset="0"/>
                          <a:cs typeface="Times New Roman" panose="02020603050405020304" pitchFamily="18" charset="0"/>
                        </a:rPr>
                        <a:t> Improves classification accuracy using multiple models. </a:t>
                      </a:r>
                      <a:br>
                        <a:rPr lang="en-IN" sz="1100"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Disadvantage:</a:t>
                      </a:r>
                      <a:r>
                        <a:rPr lang="en-IN" sz="1100" dirty="0">
                          <a:latin typeface="Times New Roman" panose="02020603050405020304" pitchFamily="18" charset="0"/>
                          <a:cs typeface="Times New Roman" panose="02020603050405020304" pitchFamily="18" charset="0"/>
                        </a:rPr>
                        <a:t> Model complexity increases.</a:t>
                      </a:r>
                    </a:p>
                  </a:txBody>
                  <a:tcPr/>
                </a:tc>
                <a:tc>
                  <a:txBody>
                    <a:bodyPr/>
                    <a:lstStyle/>
                    <a:p>
                      <a:pPr algn="ctr"/>
                      <a:r>
                        <a:rPr lang="en-IN" sz="1100" dirty="0">
                          <a:latin typeface="Times New Roman" panose="02020603050405020304" pitchFamily="18" charset="0"/>
                          <a:cs typeface="Times New Roman" panose="02020603050405020304" pitchFamily="18" charset="0"/>
                          <a:hlinkClick r:id="rId6"/>
                        </a:rPr>
                        <a:t>https://arxiv.org/abs/2103.15822</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67384804"/>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3EFE34-0E88-E11A-541E-D3CDB5B2B6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D557DD7-3C89-9107-042A-B7D4F6ADF4C6}"/>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E61A1BAD-833D-E32A-72E3-47E3C7315E78}"/>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425B1DD5-5767-C744-7BF6-361EB188CEE6}"/>
              </a:ext>
            </a:extLst>
          </p:cNvPr>
          <p:cNvSpPr>
            <a:spLocks noGrp="1"/>
          </p:cNvSpPr>
          <p:nvPr>
            <p:ph type="dt" sz="half" idx="10"/>
          </p:nvPr>
        </p:nvSpPr>
        <p:spPr/>
        <p:txBody>
          <a:bodyPr/>
          <a:lstStyle/>
          <a:p>
            <a:fld id="{196CB346-A29B-614A-90B7-3F58220E4132}" type="datetime1">
              <a:rPr lang="en-IN" smtClean="0"/>
              <a:t>06/03/26</a:t>
            </a:fld>
            <a:endParaRPr lang="en-US" dirty="0"/>
          </a:p>
        </p:txBody>
      </p:sp>
      <p:sp>
        <p:nvSpPr>
          <p:cNvPr id="7" name="Slide Number Placeholder 6">
            <a:extLst>
              <a:ext uri="{FF2B5EF4-FFF2-40B4-BE49-F238E27FC236}">
                <a16:creationId xmlns:a16="http://schemas.microsoft.com/office/drawing/2014/main" id="{71BD54C3-6DA1-C587-B071-DB9856458CAE}"/>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2" name="Picture 1">
            <a:extLst>
              <a:ext uri="{FF2B5EF4-FFF2-40B4-BE49-F238E27FC236}">
                <a16:creationId xmlns:a16="http://schemas.microsoft.com/office/drawing/2014/main" id="{1E74C504-95DA-4452-1B62-175149558FFA}"/>
              </a:ext>
            </a:extLst>
          </p:cNvPr>
          <p:cNvPicPr>
            <a:picLocks noChangeAspect="1"/>
          </p:cNvPicPr>
          <p:nvPr/>
        </p:nvPicPr>
        <p:blipFill>
          <a:blip/>
          <a:stretch>
            <a:fillRect/>
          </a:stretch>
        </p:blipFill>
        <p:spPr>
          <a:xfrm>
            <a:off x="0" y="0"/>
            <a:ext cx="1458484" cy="690861"/>
          </a:xfrm>
          <a:prstGeom prst="rect">
            <a:avLst/>
          </a:prstGeom>
        </p:spPr>
      </p:pic>
      <p:sp>
        <p:nvSpPr>
          <p:cNvPr id="10" name="Footer Placeholder 2">
            <a:extLst>
              <a:ext uri="{FF2B5EF4-FFF2-40B4-BE49-F238E27FC236}">
                <a16:creationId xmlns:a16="http://schemas.microsoft.com/office/drawing/2014/main" id="{01569569-6F9B-98E6-9446-9BCE6624EEC1}"/>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F600495C-C86D-47B8-06D6-F29B20C9549C}"/>
              </a:ext>
            </a:extLst>
          </p:cNvPr>
          <p:cNvPicPr>
            <a:picLocks noChangeAspect="1"/>
          </p:cNvPicPr>
          <p:nvPr/>
        </p:nvPicPr>
        <p:blipFill>
          <a:blip r:embed="rId3"/>
          <a:stretch>
            <a:fillRect/>
          </a:stretch>
        </p:blipFill>
        <p:spPr>
          <a:xfrm>
            <a:off x="0" y="1"/>
            <a:ext cx="1458484" cy="807928"/>
          </a:xfrm>
          <a:prstGeom prst="rect">
            <a:avLst/>
          </a:prstGeom>
        </p:spPr>
      </p:pic>
      <p:graphicFrame>
        <p:nvGraphicFramePr>
          <p:cNvPr id="11" name="Table 10">
            <a:extLst>
              <a:ext uri="{FF2B5EF4-FFF2-40B4-BE49-F238E27FC236}">
                <a16:creationId xmlns:a16="http://schemas.microsoft.com/office/drawing/2014/main" id="{BF1ED981-C961-8B5C-D5F9-B87125A39BB8}"/>
              </a:ext>
            </a:extLst>
          </p:cNvPr>
          <p:cNvGraphicFramePr>
            <a:graphicFrameLocks noGrp="1"/>
          </p:cNvGraphicFramePr>
          <p:nvPr>
            <p:extLst>
              <p:ext uri="{D42A27DB-BD31-4B8C-83A1-F6EECF244321}">
                <p14:modId xmlns:p14="http://schemas.microsoft.com/office/powerpoint/2010/main" val="2139815947"/>
              </p:ext>
            </p:extLst>
          </p:nvPr>
        </p:nvGraphicFramePr>
        <p:xfrm>
          <a:off x="453396" y="1825624"/>
          <a:ext cx="10911290" cy="3065075"/>
        </p:xfrm>
        <a:graphic>
          <a:graphicData uri="http://schemas.openxmlformats.org/drawingml/2006/table">
            <a:tbl>
              <a:tblPr firstRow="1" bandRow="1">
                <a:tableStyleId>{073A0DAA-6AF3-43AB-8588-CEC1D06C72B9}</a:tableStyleId>
              </a:tblPr>
              <a:tblGrid>
                <a:gridCol w="2286562">
                  <a:extLst>
                    <a:ext uri="{9D8B030D-6E8A-4147-A177-3AD203B41FA5}">
                      <a16:colId xmlns:a16="http://schemas.microsoft.com/office/drawing/2014/main" val="4198511078"/>
                    </a:ext>
                  </a:extLst>
                </a:gridCol>
                <a:gridCol w="2403291">
                  <a:extLst>
                    <a:ext uri="{9D8B030D-6E8A-4147-A177-3AD203B41FA5}">
                      <a16:colId xmlns:a16="http://schemas.microsoft.com/office/drawing/2014/main" val="351455902"/>
                    </a:ext>
                  </a:extLst>
                </a:gridCol>
                <a:gridCol w="1478556">
                  <a:extLst>
                    <a:ext uri="{9D8B030D-6E8A-4147-A177-3AD203B41FA5}">
                      <a16:colId xmlns:a16="http://schemas.microsoft.com/office/drawing/2014/main" val="3672968898"/>
                    </a:ext>
                  </a:extLst>
                </a:gridCol>
                <a:gridCol w="2173596">
                  <a:extLst>
                    <a:ext uri="{9D8B030D-6E8A-4147-A177-3AD203B41FA5}">
                      <a16:colId xmlns:a16="http://schemas.microsoft.com/office/drawing/2014/main" val="165128921"/>
                    </a:ext>
                  </a:extLst>
                </a:gridCol>
                <a:gridCol w="2569285">
                  <a:extLst>
                    <a:ext uri="{9D8B030D-6E8A-4147-A177-3AD203B41FA5}">
                      <a16:colId xmlns:a16="http://schemas.microsoft.com/office/drawing/2014/main" val="2657934124"/>
                    </a:ext>
                  </a:extLst>
                </a:gridCol>
              </a:tblGrid>
              <a:tr h="832443">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tc>
                  <a:txBody>
                    <a:bodyPr/>
                    <a:lstStyle/>
                    <a:p>
                      <a:pPr algn="ctr"/>
                      <a:r>
                        <a:rPr lang="en-IN" sz="1100" dirty="0">
                          <a:latin typeface="Times New Roman" panose="02020603050405020304" pitchFamily="18" charset="0"/>
                          <a:cs typeface="Times New Roman" panose="02020603050405020304" pitchFamily="18" charset="0"/>
                        </a:rPr>
                        <a:t>Links</a:t>
                      </a:r>
                    </a:p>
                  </a:txBody>
                  <a:tcPr/>
                </a:tc>
                <a:extLst>
                  <a:ext uri="{0D108BD9-81ED-4DB2-BD59-A6C34878D82A}">
                    <a16:rowId xmlns:a16="http://schemas.microsoft.com/office/drawing/2014/main" val="3601362665"/>
                  </a:ext>
                </a:extLst>
              </a:tr>
              <a:tr h="1116316">
                <a:tc>
                  <a:txBody>
                    <a:bodyPr/>
                    <a:lstStyle/>
                    <a:p>
                      <a:pPr algn="ctr"/>
                      <a:r>
                        <a:rPr lang="en-IN" sz="1100" dirty="0">
                          <a:latin typeface="Times New Roman" panose="02020603050405020304" pitchFamily="18" charset="0"/>
                          <a:cs typeface="Times New Roman" panose="02020603050405020304" pitchFamily="18" charset="0"/>
                        </a:rPr>
                        <a:t>Spark NLP: Natural Language Understanding at Scale</a:t>
                      </a:r>
                    </a:p>
                  </a:txBody>
                  <a:tcPr/>
                </a:tc>
                <a:tc>
                  <a:txBody>
                    <a:bodyPr/>
                    <a:lstStyle/>
                    <a:p>
                      <a:pPr algn="ctr"/>
                      <a:r>
                        <a:rPr lang="en-IN" sz="1100" dirty="0">
                          <a:latin typeface="Times New Roman" panose="02020603050405020304" pitchFamily="18" charset="0"/>
                          <a:cs typeface="Times New Roman" panose="02020603050405020304" pitchFamily="18" charset="0"/>
                        </a:rPr>
                        <a:t>Veysel Kocaman, David Talby</a:t>
                      </a:r>
                    </a:p>
                  </a:txBody>
                  <a:tcPr/>
                </a:tc>
                <a:tc>
                  <a:txBody>
                    <a:bodyPr/>
                    <a:lstStyle/>
                    <a:p>
                      <a:pPr algn="ctr"/>
                      <a:r>
                        <a:rPr lang="en-IN" sz="1100" dirty="0">
                          <a:latin typeface="Times New Roman" panose="02020603050405020304" pitchFamily="18" charset="0"/>
                          <a:cs typeface="Times New Roman" panose="02020603050405020304" pitchFamily="18" charset="0"/>
                        </a:rPr>
                        <a:t>Apache Spark, Big Data, NLP</a:t>
                      </a:r>
                    </a:p>
                  </a:txBody>
                  <a:tcPr/>
                </a:tc>
                <a:tc>
                  <a:txBody>
                    <a:bodyPr/>
                    <a:lstStyle/>
                    <a:p>
                      <a:pPr algn="ctr"/>
                      <a:r>
                        <a:rPr lang="en-IN" sz="1100" b="1" dirty="0">
                          <a:latin typeface="Times New Roman" panose="02020603050405020304" pitchFamily="18" charset="0"/>
                          <a:cs typeface="Times New Roman" panose="02020603050405020304" pitchFamily="18" charset="0"/>
                        </a:rPr>
                        <a:t>Advantage:</a:t>
                      </a:r>
                      <a:r>
                        <a:rPr lang="en-IN" sz="1100" dirty="0">
                          <a:latin typeface="Times New Roman" panose="02020603050405020304" pitchFamily="18" charset="0"/>
                          <a:cs typeface="Times New Roman" panose="02020603050405020304" pitchFamily="18" charset="0"/>
                        </a:rPr>
                        <a:t> Enables scalable processing of large text datasets. </a:t>
                      </a:r>
                      <a:br>
                        <a:rPr lang="en-IN" sz="1100"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Disadvantage:</a:t>
                      </a:r>
                      <a:r>
                        <a:rPr lang="en-IN" sz="1100" dirty="0">
                          <a:latin typeface="Times New Roman" panose="02020603050405020304" pitchFamily="18" charset="0"/>
                          <a:cs typeface="Times New Roman" panose="02020603050405020304" pitchFamily="18" charset="0"/>
                        </a:rPr>
                        <a:t> Requires distributed infrastructure</a:t>
                      </a:r>
                    </a:p>
                  </a:txBody>
                  <a:tcPr/>
                </a:tc>
                <a:tc>
                  <a:txBody>
                    <a:bodyPr/>
                    <a:lstStyle/>
                    <a:p>
                      <a:pPr algn="ctr"/>
                      <a:r>
                        <a:rPr lang="en-IN" sz="1100" dirty="0">
                          <a:latin typeface="Times New Roman" panose="02020603050405020304" pitchFamily="18" charset="0"/>
                          <a:cs typeface="Times New Roman" panose="02020603050405020304" pitchFamily="18" charset="0"/>
                          <a:hlinkClick r:id="rId4"/>
                        </a:rPr>
                        <a:t>https://arxiv.org/pdf/2101.10848</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42890"/>
                  </a:ext>
                </a:extLst>
              </a:tr>
              <a:tr h="1116316">
                <a:tc>
                  <a:txBody>
                    <a:bodyPr/>
                    <a:lstStyle/>
                    <a:p>
                      <a:pPr algn="ctr"/>
                      <a:r>
                        <a:rPr lang="en-IN" sz="1100" dirty="0">
                          <a:latin typeface="Times New Roman" panose="02020603050405020304" pitchFamily="18" charset="0"/>
                          <a:cs typeface="Times New Roman" panose="02020603050405020304" pitchFamily="18" charset="0"/>
                        </a:rPr>
                        <a:t>Automatic Ticket Assignment Using Machine Learning</a:t>
                      </a:r>
                    </a:p>
                  </a:txBody>
                  <a:tcPr/>
                </a:tc>
                <a:tc>
                  <a:txBody>
                    <a:bodyPr/>
                    <a:lstStyle/>
                    <a:p>
                      <a:pPr algn="ctr"/>
                      <a:r>
                        <a:rPr lang="en-IN" sz="1100" dirty="0">
                          <a:latin typeface="Times New Roman" panose="02020603050405020304" pitchFamily="18" charset="0"/>
                          <a:cs typeface="Times New Roman" panose="02020603050405020304" pitchFamily="18" charset="0"/>
                        </a:rPr>
                        <a:t>Sejal Shah</a:t>
                      </a:r>
                    </a:p>
                  </a:txBody>
                  <a:tcPr/>
                </a:tc>
                <a:tc>
                  <a:txBody>
                    <a:bodyPr/>
                    <a:lstStyle/>
                    <a:p>
                      <a:pPr>
                        <a:buNone/>
                      </a:pPr>
                      <a:r>
                        <a:rPr lang="en-IN" sz="1100" dirty="0">
                          <a:latin typeface="Times New Roman" panose="02020603050405020304" pitchFamily="18" charset="0"/>
                          <a:cs typeface="Times New Roman" panose="02020603050405020304" pitchFamily="18" charset="0"/>
                        </a:rPr>
                        <a:t>Machine Learning, NLP</a:t>
                      </a:r>
                    </a:p>
                  </a:txBody>
                  <a:tcPr anchor="ctr"/>
                </a:tc>
                <a:tc>
                  <a:txBody>
                    <a:bodyPr/>
                    <a:lstStyle/>
                    <a:p>
                      <a:pPr algn="ctr"/>
                      <a:r>
                        <a:rPr lang="en-IN" sz="1100" b="1" dirty="0">
                          <a:latin typeface="Times New Roman" panose="02020603050405020304" pitchFamily="18" charset="0"/>
                          <a:cs typeface="Times New Roman" panose="02020603050405020304" pitchFamily="18" charset="0"/>
                        </a:rPr>
                        <a:t>Advantage:</a:t>
                      </a:r>
                      <a:r>
                        <a:rPr lang="en-IN" sz="1100" dirty="0">
                          <a:latin typeface="Times New Roman" panose="02020603050405020304" pitchFamily="18" charset="0"/>
                          <a:cs typeface="Times New Roman" panose="02020603050405020304" pitchFamily="18" charset="0"/>
                        </a:rPr>
                        <a:t> Reduces manual ticket routing effort. </a:t>
                      </a:r>
                      <a:br>
                        <a:rPr lang="en-IN" sz="1100"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Disadvantage:</a:t>
                      </a:r>
                      <a:r>
                        <a:rPr lang="en-IN" sz="1100" dirty="0">
                          <a:latin typeface="Times New Roman" panose="02020603050405020304" pitchFamily="18" charset="0"/>
                          <a:cs typeface="Times New Roman" panose="02020603050405020304" pitchFamily="18" charset="0"/>
                        </a:rPr>
                        <a:t> Accuracy depends on training data quality.</a:t>
                      </a:r>
                    </a:p>
                  </a:txBody>
                  <a:tcPr/>
                </a:tc>
                <a:tc>
                  <a:txBody>
                    <a:bodyPr/>
                    <a:lstStyle/>
                    <a:p>
                      <a:pPr algn="ctr"/>
                      <a:r>
                        <a:rPr lang="en-IN" sz="1100" dirty="0">
                          <a:latin typeface="Times New Roman" panose="02020603050405020304" pitchFamily="18" charset="0"/>
                          <a:cs typeface="Times New Roman" panose="02020603050405020304" pitchFamily="18" charset="0"/>
                          <a:hlinkClick r:id="rId5"/>
                        </a:rPr>
                        <a:t>https://norma.ncirl.ie/4416/1/sejalshah.pdf</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5180221"/>
                  </a:ext>
                </a:extLst>
              </a:tr>
            </a:tbl>
          </a:graphicData>
        </a:graphic>
      </p:graphicFrame>
    </p:spTree>
    <p:extLst>
      <p:ext uri="{BB962C8B-B14F-4D97-AF65-F5344CB8AC3E}">
        <p14:creationId xmlns:p14="http://schemas.microsoft.com/office/powerpoint/2010/main" val="3257022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 </a:t>
            </a:r>
          </a:p>
        </p:txBody>
      </p:sp>
      <p:pic>
        <p:nvPicPr>
          <p:cNvPr id="4" name="Content Placeholder 3" descr="A diagram of a computer&#10;&#10;AI-generated content may be incorrect.">
            <a:extLst>
              <a:ext uri="{FF2B5EF4-FFF2-40B4-BE49-F238E27FC236}">
                <a16:creationId xmlns:a16="http://schemas.microsoft.com/office/drawing/2014/main" id="{A7134896-F4E8-A117-05D2-490525960D89}"/>
              </a:ext>
            </a:extLst>
          </p:cNvPr>
          <p:cNvPicPr>
            <a:picLocks noGrp="1" noChangeAspect="1"/>
          </p:cNvPicPr>
          <p:nvPr>
            <p:ph idx="1"/>
          </p:nvPr>
        </p:nvPicPr>
        <p:blipFill>
          <a:blip r:embed="rId2"/>
          <a:stretch>
            <a:fillRect/>
          </a:stretch>
        </p:blipFill>
        <p:spPr>
          <a:xfrm>
            <a:off x="2893807" y="365124"/>
            <a:ext cx="5486400" cy="5991226"/>
          </a:xfrm>
          <a:prstGeom prst="rect">
            <a:avLst/>
          </a:prstGeom>
          <a:scene3d>
            <a:camera prst="orthographicFront">
              <a:rot lat="0" lon="21599968" rev="0"/>
            </a:camera>
            <a:lightRig rig="threePt" dir="t"/>
          </a:scene3d>
        </p:spPr>
      </p:pic>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06/03/26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14</a:t>
            </a:fld>
            <a:endParaRPr lang="en-US"/>
          </a:p>
        </p:txBody>
      </p:sp>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13EBE3D9-557D-51F3-38E6-16FF593FFC12}"/>
              </a:ext>
            </a:extLst>
          </p:cNvPr>
          <p:cNvPicPr>
            <a:picLocks noChangeAspect="1"/>
          </p:cNvPicPr>
          <p:nvPr/>
        </p:nvPicPr>
        <p:blipFill>
          <a:blip r:embed="rId3"/>
          <a:stretch>
            <a:fillRect/>
          </a:stretch>
        </p:blipFill>
        <p:spPr>
          <a:xfrm>
            <a:off x="0" y="19694"/>
            <a:ext cx="1540943" cy="690861"/>
          </a:xfrm>
          <a:prstGeom prst="rect">
            <a:avLst/>
          </a:prstGeom>
        </p:spPr>
      </p:pic>
    </p:spTree>
    <p:extLst>
      <p:ext uri="{BB962C8B-B14F-4D97-AF65-F5344CB8AC3E}">
        <p14:creationId xmlns:p14="http://schemas.microsoft.com/office/powerpoint/2010/main" val="3350041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9667F-8793-EF1E-CFC9-8EBFB97F4C25}"/>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 Module Design</a:t>
            </a:r>
          </a:p>
        </p:txBody>
      </p:sp>
      <p:pic>
        <p:nvPicPr>
          <p:cNvPr id="9" name="Content Placeholder 8" descr="A diagram of a model creation&#10;&#10;AI-generated content may be incorrect.">
            <a:extLst>
              <a:ext uri="{FF2B5EF4-FFF2-40B4-BE49-F238E27FC236}">
                <a16:creationId xmlns:a16="http://schemas.microsoft.com/office/drawing/2014/main" id="{17DE4684-6B18-A70F-BDD9-DB3CF8FCC876}"/>
              </a:ext>
            </a:extLst>
          </p:cNvPr>
          <p:cNvPicPr>
            <a:picLocks noGrp="1" noChangeAspect="1"/>
          </p:cNvPicPr>
          <p:nvPr>
            <p:ph idx="1"/>
          </p:nvPr>
        </p:nvPicPr>
        <p:blipFill>
          <a:blip r:embed="rId2"/>
          <a:stretch>
            <a:fillRect/>
          </a:stretch>
        </p:blipFill>
        <p:spPr>
          <a:xfrm>
            <a:off x="1364343" y="1391592"/>
            <a:ext cx="9695543" cy="5466408"/>
          </a:xfrm>
          <a:prstGeom prst="rect">
            <a:avLst/>
          </a:prstGeom>
        </p:spPr>
      </p:pic>
      <p:sp>
        <p:nvSpPr>
          <p:cNvPr id="4" name="Date Placeholder 3">
            <a:extLst>
              <a:ext uri="{FF2B5EF4-FFF2-40B4-BE49-F238E27FC236}">
                <a16:creationId xmlns:a16="http://schemas.microsoft.com/office/drawing/2014/main" id="{FB30B160-FC25-4DBB-7A9D-626FDF96E0FF}"/>
              </a:ext>
            </a:extLst>
          </p:cNvPr>
          <p:cNvSpPr>
            <a:spLocks noGrp="1"/>
          </p:cNvSpPr>
          <p:nvPr>
            <p:ph type="dt" sz="half" idx="10"/>
          </p:nvPr>
        </p:nvSpPr>
        <p:spPr/>
        <p:txBody>
          <a:bodyPr/>
          <a:lstStyle/>
          <a:p>
            <a:fld id="{C7A4DE8B-8D6B-8C46-B882-6A2CD2BC96F0}" type="datetime1">
              <a:rPr lang="en-IN" smtClean="0"/>
              <a:t>06/03/26</a:t>
            </a:fld>
            <a:endParaRPr lang="en-US"/>
          </a:p>
        </p:txBody>
      </p:sp>
      <p:sp>
        <p:nvSpPr>
          <p:cNvPr id="5" name="Footer Placeholder 4">
            <a:extLst>
              <a:ext uri="{FF2B5EF4-FFF2-40B4-BE49-F238E27FC236}">
                <a16:creationId xmlns:a16="http://schemas.microsoft.com/office/drawing/2014/main" id="{F0A1F3A5-D71D-D835-0DD5-08CF0F952E6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DB000EC6-8E41-B76D-6662-F802898D86F6}"/>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7" name="Picture 6">
            <a:extLst>
              <a:ext uri="{FF2B5EF4-FFF2-40B4-BE49-F238E27FC236}">
                <a16:creationId xmlns:a16="http://schemas.microsoft.com/office/drawing/2014/main" id="{3C3AA2A3-ECB3-777C-BAB4-26871B5F64B4}"/>
              </a:ext>
            </a:extLst>
          </p:cNvPr>
          <p:cNvPicPr>
            <a:picLocks noChangeAspect="1"/>
          </p:cNvPicPr>
          <p:nvPr/>
        </p:nvPicPr>
        <p:blipFill>
          <a:blip r:embed="rId3"/>
          <a:stretch>
            <a:fillRect/>
          </a:stretch>
        </p:blipFill>
        <p:spPr>
          <a:xfrm>
            <a:off x="0" y="19694"/>
            <a:ext cx="1540943" cy="690861"/>
          </a:xfrm>
          <a:prstGeom prst="rect">
            <a:avLst/>
          </a:prstGeom>
        </p:spPr>
      </p:pic>
    </p:spTree>
    <p:extLst>
      <p:ext uri="{BB962C8B-B14F-4D97-AF65-F5344CB8AC3E}">
        <p14:creationId xmlns:p14="http://schemas.microsoft.com/office/powerpoint/2010/main" val="512057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1"/>
            <a:ext cx="10515600" cy="5002923"/>
          </a:xfrm>
        </p:spPr>
        <p:txBody>
          <a:bodyPr>
            <a:normAutofit/>
          </a:bodyPr>
          <a:lstStyle/>
          <a:p>
            <a:r>
              <a:rPr lang="en-IN" sz="2000" dirty="0">
                <a:latin typeface="Times New Roman" panose="02020603050405020304" pitchFamily="18" charset="0"/>
                <a:cs typeface="Times New Roman" panose="02020603050405020304" pitchFamily="18" charset="0"/>
              </a:rPr>
              <a:t>This project proposes an automated system for classifying customer support tickets using machine learning and NLP techniques.</a:t>
            </a:r>
          </a:p>
          <a:p>
            <a:r>
              <a:rPr lang="en-IN" sz="2000" dirty="0">
                <a:latin typeface="Times New Roman" panose="02020603050405020304" pitchFamily="18" charset="0"/>
                <a:cs typeface="Times New Roman" panose="02020603050405020304" pitchFamily="18" charset="0"/>
              </a:rPr>
              <a:t>The system will help organizations:</a:t>
            </a:r>
          </a:p>
          <a:p>
            <a:r>
              <a:rPr lang="en-IN" sz="2000" dirty="0">
                <a:latin typeface="Times New Roman" panose="02020603050405020304" pitchFamily="18" charset="0"/>
                <a:cs typeface="Times New Roman" panose="02020603050405020304" pitchFamily="18" charset="0"/>
              </a:rPr>
              <a:t>Reduce manual ticket sorting</a:t>
            </a:r>
          </a:p>
          <a:p>
            <a:r>
              <a:rPr lang="en-IN" sz="2000" dirty="0">
                <a:latin typeface="Times New Roman" panose="02020603050405020304" pitchFamily="18" charset="0"/>
                <a:cs typeface="Times New Roman" panose="02020603050405020304" pitchFamily="18" charset="0"/>
              </a:rPr>
              <a:t>Improve response time</a:t>
            </a:r>
          </a:p>
          <a:p>
            <a:r>
              <a:rPr lang="en-IN" sz="2000" dirty="0">
                <a:latin typeface="Times New Roman" panose="02020603050405020304" pitchFamily="18" charset="0"/>
                <a:cs typeface="Times New Roman" panose="02020603050405020304" pitchFamily="18" charset="0"/>
              </a:rPr>
              <a:t>Increase customer satisfaction</a:t>
            </a:r>
          </a:p>
          <a:p>
            <a:r>
              <a:rPr lang="en-IN" sz="2000" b="1" dirty="0">
                <a:latin typeface="Times New Roman" panose="02020603050405020304" pitchFamily="18" charset="0"/>
                <a:cs typeface="Times New Roman" panose="02020603050405020304" pitchFamily="18" charset="0"/>
              </a:rPr>
              <a:t>Future Work</a:t>
            </a:r>
          </a:p>
          <a:p>
            <a:r>
              <a:rPr lang="en-IN" sz="2000" dirty="0">
                <a:latin typeface="Times New Roman" panose="02020603050405020304" pitchFamily="18" charset="0"/>
                <a:cs typeface="Times New Roman" panose="02020603050405020304" pitchFamily="18" charset="0"/>
              </a:rPr>
              <a:t>Implement deep learning models.</a:t>
            </a:r>
          </a:p>
          <a:p>
            <a:r>
              <a:rPr lang="en-IN" sz="2000" dirty="0">
                <a:latin typeface="Times New Roman" panose="02020603050405020304" pitchFamily="18" charset="0"/>
                <a:cs typeface="Times New Roman" panose="02020603050405020304" pitchFamily="18" charset="0"/>
              </a:rPr>
              <a:t>Add </a:t>
            </a:r>
            <a:r>
              <a:rPr lang="en-IN" sz="2000" b="1" dirty="0">
                <a:latin typeface="Times New Roman" panose="02020603050405020304" pitchFamily="18" charset="0"/>
                <a:cs typeface="Times New Roman" panose="02020603050405020304" pitchFamily="18" charset="0"/>
              </a:rPr>
              <a:t>priority detection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Integrate with real-time </a:t>
            </a:r>
            <a:r>
              <a:rPr lang="en-IN" sz="2000" b="1" dirty="0">
                <a:latin typeface="Times New Roman" panose="02020603050405020304" pitchFamily="18" charset="0"/>
                <a:cs typeface="Times New Roman" panose="02020603050405020304" pitchFamily="18" charset="0"/>
              </a:rPr>
              <a:t>helpdesk platforms</a:t>
            </a:r>
            <a:endParaRPr lang="en-IN"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06/03/26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16</a:t>
            </a:fld>
            <a:endParaRPr lang="en-US"/>
          </a:p>
        </p:txBody>
      </p:sp>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0" y="31493"/>
            <a:ext cx="1458484" cy="690861"/>
          </a:xfrm>
          <a:prstGeom prst="rect">
            <a:avLst/>
          </a:prstGeom>
        </p:spPr>
      </p:pic>
    </p:spTree>
    <p:extLst>
      <p:ext uri="{BB962C8B-B14F-4D97-AF65-F5344CB8AC3E}">
        <p14:creationId xmlns:p14="http://schemas.microsoft.com/office/powerpoint/2010/main" val="716463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b="1" dirty="0">
              <a:latin typeface="Times New Roman" panose="02020603050405020304" pitchFamily="18" charset="0"/>
              <a:cs typeface="Times New Roman" panose="02020603050405020304" pitchFamily="18" charset="0"/>
            </a:endParaRPr>
          </a:p>
          <a:p>
            <a:pPr marL="0" indent="0" algn="ctr">
              <a:buNone/>
            </a:pPr>
            <a:endParaRPr lang="en-IN" sz="4400" b="1" dirty="0">
              <a:latin typeface="Times New Roman" panose="02020603050405020304" pitchFamily="18" charset="0"/>
              <a:cs typeface="Times New Roman" panose="02020603050405020304" pitchFamily="18" charset="0"/>
            </a:endParaRPr>
          </a:p>
          <a:p>
            <a:pPr marL="0" indent="0" algn="ctr">
              <a:buNone/>
            </a:pPr>
            <a:endParaRPr lang="en-IN" sz="4400" b="1" dirty="0">
              <a:latin typeface="Times New Roman" panose="02020603050405020304" pitchFamily="18" charset="0"/>
              <a:cs typeface="Times New Roman" panose="02020603050405020304" pitchFamily="18" charset="0"/>
            </a:endParaRPr>
          </a:p>
          <a:p>
            <a:pPr marL="0" indent="0" algn="ctr">
              <a:buNone/>
            </a:pPr>
            <a:r>
              <a:rPr lang="en-IN" sz="4400" b="1" dirty="0">
                <a:latin typeface="Times New Roman" panose="02020603050405020304" pitchFamily="18" charset="0"/>
                <a:cs typeface="Times New Roman" panose="02020603050405020304" pitchFamily="18" charset="0"/>
              </a:rPr>
              <a:t>THANK YOU</a:t>
            </a:r>
          </a:p>
        </p:txBody>
      </p:sp>
      <p:sp>
        <p:nvSpPr>
          <p:cNvPr id="5" name="Date Placeholder 4"/>
          <p:cNvSpPr>
            <a:spLocks noGrp="1"/>
          </p:cNvSpPr>
          <p:nvPr>
            <p:ph type="dt" sz="half" idx="10"/>
          </p:nvPr>
        </p:nvSpPr>
        <p:spPr/>
        <p:txBody>
          <a:bodyPr/>
          <a:lstStyle/>
          <a:p>
            <a:fld id="{D7BE9514-8A25-AD4E-B103-05AD99471A79}" type="datetime1">
              <a:rPr lang="en-IN" smtClean="0"/>
              <a:t>06/03/26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17</a:t>
            </a:fld>
            <a:endParaRPr lang="en-US"/>
          </a:p>
        </p:txBody>
      </p:sp>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pic>
        <p:nvPicPr>
          <p:cNvPr id="3" name="Picture 2">
            <a:extLst>
              <a:ext uri="{FF2B5EF4-FFF2-40B4-BE49-F238E27FC236}">
                <a16:creationId xmlns:a16="http://schemas.microsoft.com/office/drawing/2014/main" id="{13EBE3D9-557D-51F3-38E6-16FF593FFC12}"/>
              </a:ext>
            </a:extLst>
          </p:cNvPr>
          <p:cNvPicPr>
            <a:picLocks noChangeAspect="1"/>
          </p:cNvPicPr>
          <p:nvPr/>
        </p:nvPicPr>
        <p:blipFill>
          <a:blip r:embed="rId2"/>
          <a:stretch>
            <a:fillRect/>
          </a:stretch>
        </p:blipFill>
        <p:spPr>
          <a:xfrm>
            <a:off x="0" y="49919"/>
            <a:ext cx="1458484" cy="69086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1353</Words>
  <Application>Microsoft Macintosh PowerPoint</Application>
  <PresentationFormat>Widescreen</PresentationFormat>
  <Paragraphs>207</Paragraphs>
  <Slides>17</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Times New Roman</vt:lpstr>
      <vt:lpstr>Office Theme</vt:lpstr>
      <vt:lpstr>Custom Design</vt:lpstr>
      <vt:lpstr>AI Systems for Visual Intelligence REVIEW – 2  Project Title</vt:lpstr>
      <vt:lpstr>OUTLINE</vt:lpstr>
      <vt:lpstr> Abstract  </vt:lpstr>
      <vt:lpstr> Introduction</vt:lpstr>
      <vt:lpstr> Existing System</vt:lpstr>
      <vt:lpstr>Proposed Method</vt:lpstr>
      <vt:lpstr>OBJECTIVES</vt:lpstr>
      <vt:lpstr>SOFTWARE REQUIREMENTS </vt:lpstr>
      <vt:lpstr>HARDWARE REQUIREMENTS </vt:lpstr>
      <vt:lpstr>FUNCTIONAL REQUIREMENTS </vt:lpstr>
      <vt:lpstr>NON-FUNCTIONAL REQUIREMENTS </vt:lpstr>
      <vt:lpstr>Literature Survey</vt:lpstr>
      <vt:lpstr>Literature Survey</vt:lpstr>
      <vt:lpstr> </vt:lpstr>
      <vt:lpstr> Module Design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ALLAM SUBHASH CHOWDARY .</cp:lastModifiedBy>
  <cp:revision>5</cp:revision>
  <dcterms:modified xsi:type="dcterms:W3CDTF">2026-03-06T06:13:20Z</dcterms:modified>
</cp:coreProperties>
</file>